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44cf357a26f04805" /><Relationship Type="http://schemas.openxmlformats.org/package/2006/relationships/metadata/core-properties" Target="/docProps/core.xml" Id="R243896fa68b949df" /><Relationship Type="http://schemas.openxmlformats.org/officeDocument/2006/relationships/extended-properties" Target="/docProps/app.xml" Id="R84baa515617f451b" /><Relationship Type="http://schemas.openxmlformats.org/officeDocument/2006/relationships/custom-properties" Target="/docProps/custom.xml" Id="Rbe7603cf62364a4d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notesMasterIdLst>
    <p:notesMasterId r:id="Rbff9625ef8c14565"/>
  </p:notesMasterIdLst>
  <p:sldIdLst>
    <p:sldId id="256" r:id="Rd78b5f05b0e64f48"/>
    <p:sldId id="257" r:id="R601d1a745537419b"/>
    <p:sldId id="258" r:id="Rd2970d1c3cae430e"/>
    <p:sldId id="259" r:id="Rb1df118b16254ff4"/>
    <p:sldId id="260" r:id="Rc7791ba4ff95436e"/>
    <p:sldId id="261" r:id="R22e4fc0570354dc0"/>
    <p:sldId id="262" r:id="R4e95067249ef48f0"/>
    <p:sldId id="263" r:id="R6de7e1e1e9f74537"/>
    <p:sldId id="264" r:id="R1b7d32d0ca584e19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d78b5f05b0e64f48" /><Relationship Type="http://schemas.openxmlformats.org/officeDocument/2006/relationships/notesMaster" Target="/ppt/notesMasters/notesMaster1.xml" Id="Rbff9625ef8c14565" /><Relationship Type="http://schemas.openxmlformats.org/officeDocument/2006/relationships/slide" Target="/ppt/slides/slide2.xml" Id="R601d1a745537419b" /><Relationship Type="http://schemas.openxmlformats.org/officeDocument/2006/relationships/slide" Target="/ppt/slides/slide3.xml" Id="Rd2970d1c3cae430e" /><Relationship Type="http://schemas.openxmlformats.org/officeDocument/2006/relationships/slide" Target="/ppt/slides/slide4.xml" Id="Rb1df118b16254ff4" /><Relationship Type="http://schemas.openxmlformats.org/officeDocument/2006/relationships/slide" Target="/ppt/slides/slide5.xml" Id="Rc7791ba4ff95436e" /><Relationship Type="http://schemas.openxmlformats.org/officeDocument/2006/relationships/slide" Target="/ppt/slides/slide6.xml" Id="R22e4fc0570354dc0" /><Relationship Type="http://schemas.openxmlformats.org/officeDocument/2006/relationships/slide" Target="/ppt/slides/slide7.xml" Id="R4e95067249ef48f0" /><Relationship Type="http://schemas.openxmlformats.org/officeDocument/2006/relationships/slide" Target="/ppt/slides/slide8.xml" Id="R6de7e1e1e9f74537" /><Relationship Type="http://schemas.openxmlformats.org/officeDocument/2006/relationships/slide" Target="/ppt/slides/slide9.xml" Id="R1b7d32d0ca584e1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a16f12732c4e43bd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1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3429000"/>
            <a:ext cx="5486400" cy="411480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2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33c8ad964443453e" /><Relationship Type="http://schemas.openxmlformats.org/officeDocument/2006/relationships/slide" Target="/ppt/slides/slide1.xml" Id="R3b4163ae7080415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edb6cfbaa1af4f44" /><Relationship Type="http://schemas.openxmlformats.org/officeDocument/2006/relationships/slide" Target="/ppt/slides/slide2.xml" Id="Rd13122b407e34f4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b32d4b26292c4073" /><Relationship Type="http://schemas.openxmlformats.org/officeDocument/2006/relationships/slide" Target="/ppt/slides/slide3.xml" Id="R04629108d1f0467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64dc16fbf1c441ee" /><Relationship Type="http://schemas.openxmlformats.org/officeDocument/2006/relationships/slide" Target="/ppt/slides/slide4.xml" Id="R2b0f6cd4253a425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fd2988caa06047b2" /><Relationship Type="http://schemas.openxmlformats.org/officeDocument/2006/relationships/slide" Target="/ppt/slides/slide5.xml" Id="Rfbd1553785d9484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4438858960094e1b" /><Relationship Type="http://schemas.openxmlformats.org/officeDocument/2006/relationships/slide" Target="/ppt/slides/slide6.xml" Id="R978cea02ca0a4b7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5e19583d79a14e53" /><Relationship Type="http://schemas.openxmlformats.org/officeDocument/2006/relationships/slide" Target="/ppt/slides/slide7.xml" Id="R19761f4bda9240a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77e346cf801c4183" /><Relationship Type="http://schemas.openxmlformats.org/officeDocument/2006/relationships/slide" Target="/ppt/slides/slide8.xml" Id="R798247e523174bd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af802b6557144135" /><Relationship Type="http://schemas.openxmlformats.org/officeDocument/2006/relationships/slide" Target="/ppt/slides/slide9.xml" Id="Ra46a646550ab448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Cover slide. Calm Skies Travel pitch deck for the IBM Bobathon event. Tagline: Safe travels, calm skies.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Slide 2: Why I started this. LaGuardia photo on left. A.J.'s personal backstory on the right. Keep tone warm and personal.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Slide 3: One Guide, Two Voices. Two cards side by side — parent left (sky blue), child right (meadow green). The child always comes first.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Slide 4: The Journey Step by Step. 5 steps with emoji icons and connecting arrows. Below each step is a detail card. All from the child's point of view.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Slide 5: Social Stories. Three story cards side by side. Below: how the Story Builder works. Emphasize: no login, QR code, parent editable.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Slide 6: Helpful Hints. Three primary cards: Sunflower Lanyard, DPNA Code, TSA Cares. Bottom strip: Wings for Autism, Sensory Rooms, TSA PreCheck, pre-boarding, autism cards.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Slide 7: Pack the Calm, Ship the Rest. Left column: go bag checklist (meadow green). Right column: ship ahead guide (sky blue). Bottom tip strip.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Slide 8: Staying Calm — Before, During, After. Three equal columns. Warm and supportive tone throughout. No clinical language.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Slide 9: Thank You. Large heart, calm sky colors, tagline, website URL. Simple, warm, memorable close.</a:t>
            </a:r>
          </a:p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49c8dbc101142a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4e2dfa8b5ef460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ba7730e14a143c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08fa2ae9f84b4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26faea65f8447dc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b43c71a6a4764a06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c12175c3414bdd" /><Relationship Type="http://schemas.openxmlformats.org/officeDocument/2006/relationships/notesSlide" Target="/ppt/notesSlides/notesSlide1.xml" Id="R177fef6d01e4496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450607bc494fa2" /><Relationship Type="http://schemas.openxmlformats.org/officeDocument/2006/relationships/notesSlide" Target="/ppt/notesSlides/notesSlide2.xml" Id="Rcdbdc2568e4f477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6a22b479254291" /><Relationship Type="http://schemas.openxmlformats.org/officeDocument/2006/relationships/notesSlide" Target="/ppt/notesSlides/notesSlide3.xml" Id="Rd42142943a1643d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df5557ea0447d6" /><Relationship Type="http://schemas.openxmlformats.org/officeDocument/2006/relationships/notesSlide" Target="/ppt/notesSlides/notesSlide4.xml" Id="Rf2f098d61da6491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ed302e535247e9" /><Relationship Type="http://schemas.openxmlformats.org/officeDocument/2006/relationships/notesSlide" Target="/ppt/notesSlides/notesSlide5.xml" Id="R3bf0f8e0af364e5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c2b71aea0e4219" /><Relationship Type="http://schemas.openxmlformats.org/officeDocument/2006/relationships/notesSlide" Target="/ppt/notesSlides/notesSlide6.xml" Id="R6a873d10f28a4a7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8bed62c6c04f16" /><Relationship Type="http://schemas.openxmlformats.org/officeDocument/2006/relationships/notesSlide" Target="/ppt/notesSlides/notesSlide7.xml" Id="R8acc24ad82e04e6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493f6ee3ce4b00" /><Relationship Type="http://schemas.openxmlformats.org/officeDocument/2006/relationships/notesSlide" Target="/ppt/notesSlides/notesSlide8.xml" Id="R86f89ab0e2ca46d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2a826b5dd14c4e" /><Relationship Type="http://schemas.openxmlformats.org/officeDocument/2006/relationships/notesSlide" Target="/ppt/notesSlides/notesSlide9.xml" Id="R7e7dc53a32cb4e2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BFF"/>
        </a:solidFill>
      </p:bgPr>
    </p:bg>
    <p:spTree>
      <p:nvGrpSpPr>
        <p:cNvPr id="1" name=""/>
        <p:cNvGrpSpPr/>
        <p:nvPr/>
      </p:nvGrpSpPr>
      <p:grpSpPr/>
      <p:sp>
        <p:nvSpPr>
          <p:cNvPr id="100000" name="SkyBar"/>
          <p:cNvSpPr txBox="1"/>
          <p:nvPr/>
        </p:nvSpPr>
        <p:spPr>
          <a:xfrm xmlns:a="http://schemas.openxmlformats.org/drawingml/2006/main">
            <a:off x="0" y="0"/>
            <a:ext cx="12193200" cy="16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A4C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>
              <a:solidFill>
                <a:srgbClr val="5BA4CF"/>
              </a:solidFill>
            </a:endParaRPr>
          </a:p>
        </p:txBody>
      </p:sp>
      <p:sp>
        <p:nvSpPr>
          <p:cNvPr id="100001" name="BottomBar"/>
          <p:cNvSpPr txBox="1"/>
          <p:nvPr/>
        </p:nvSpPr>
        <p:spPr>
          <a:xfrm xmlns:a="http://schemas.openxmlformats.org/drawingml/2006/main">
            <a:off x="0" y="6300000"/>
            <a:ext cx="121932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CB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>
              <a:solidFill>
                <a:srgbClr val="2E7CB8"/>
              </a:solidFill>
            </a:endParaRPr>
          </a:p>
        </p:txBody>
      </p:sp>
      <p:sp>
        <p:nvSpPr>
          <p:cNvPr id="100002" name="Title"/>
          <p:cNvSpPr txBox="1"/>
          <p:nvPr/>
        </p:nvSpPr>
        <p:spPr>
          <a:xfrm xmlns:a="http://schemas.openxmlformats.org/drawingml/2006/main">
            <a:off x="540000" y="180000"/>
            <a:ext cx="10800000" cy="9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800" b="1">
                <a:solidFill>
                  <a:srgbClr val="FFFFFF"/>
                </a:solidFill>
                <a:latin typeface="Calibri"/>
                <a:ea typeface="Calibri"/>
              </a:rPr>
              <a:t>Calm Skies Travel</a:t>
            </a:r>
          </a:p>
        </p:txBody>
      </p:sp>
      <p:sp>
        <p:nvSpPr>
          <p:cNvPr id="100003" name="Tagline"/>
          <p:cNvSpPr txBox="1"/>
          <p:nvPr/>
        </p:nvSpPr>
        <p:spPr>
          <a:xfrm xmlns:a="http://schemas.openxmlformats.org/drawingml/2006/main">
            <a:off x="540000" y="1080000"/>
            <a:ext cx="10800000" cy="43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200" b="0">
                <a:solidFill>
                  <a:srgbClr val="FFFFFF"/>
                </a:solidFill>
                <a:latin typeface="Calibri"/>
                <a:ea typeface="Calibri"/>
              </a:rPr>
              <a:t>Safe travels, calm skies.</a:t>
            </a:r>
          </a:p>
        </p:txBody>
      </p:sp>
      <p:sp>
        <p:nvSpPr>
          <p:cNvPr id="100004" name="PlaneCloud"/>
          <p:cNvSpPr txBox="1"/>
          <p:nvPr/>
        </p:nvSpPr>
        <p:spPr>
          <a:xfrm xmlns:a="http://schemas.openxmlformats.org/drawingml/2006/main">
            <a:off x="4680000" y="1800000"/>
            <a:ext cx="2880000" cy="288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9600" b="0">
                <a:solidFill>
                  <a:srgbClr val="A8D4EF"/>
                </a:solidFill>
                <a:latin typeface="Segoe UI Emoji"/>
                <a:ea typeface="Segoe UI Emoji"/>
              </a:rPr>
              <a:t>✈</a:t>
            </a:r>
          </a:p>
        </p:txBody>
      </p:sp>
      <p:sp>
        <p:nvSpPr>
          <p:cNvPr id="100005" name="Cloud1"/>
          <p:cNvSpPr txBox="1"/>
          <p:nvPr/>
        </p:nvSpPr>
        <p:spPr>
          <a:xfrm xmlns:a="http://schemas.openxmlformats.org/drawingml/2006/main">
            <a:off x="720000" y="1980000"/>
            <a:ext cx="1800000" cy="108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800" b="0">
                <a:solidFill>
                  <a:srgbClr val="B2DFC4"/>
                </a:solidFill>
                <a:latin typeface="Segoe UI Emoji"/>
                <a:ea typeface="Segoe UI Emoji"/>
              </a:rPr>
              <a:t>☁</a:t>
            </a:r>
          </a:p>
        </p:txBody>
      </p:sp>
      <p:sp>
        <p:nvSpPr>
          <p:cNvPr id="100006" name="Cloud2"/>
          <p:cNvSpPr txBox="1"/>
          <p:nvPr/>
        </p:nvSpPr>
        <p:spPr>
          <a:xfrm xmlns:a="http://schemas.openxmlformats.org/drawingml/2006/main">
            <a:off x="9360000" y="2160000"/>
            <a:ext cx="1800000" cy="108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800" b="0">
                <a:solidFill>
                  <a:srgbClr val="B2DFC4"/>
                </a:solidFill>
                <a:latin typeface="Segoe UI Emoji"/>
                <a:ea typeface="Segoe UI Emoji"/>
              </a:rPr>
              <a:t>☁</a:t>
            </a:r>
          </a:p>
        </p:txBody>
      </p:sp>
      <p:sp>
        <p:nvSpPr>
          <p:cNvPr id="100007" name="Subtitle"/>
          <p:cNvSpPr txBox="1"/>
          <p:nvPr/>
        </p:nvSpPr>
        <p:spPr>
          <a:xfrm xmlns:a="http://schemas.openxmlformats.org/drawingml/2006/main">
            <a:off x="1080000" y="4500000"/>
            <a:ext cx="10080000" cy="72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 b="0">
                <a:solidFill>
                  <a:srgbClr val="2D3748"/>
                </a:solidFill>
                <a:latin typeface="Calibri"/>
                <a:ea typeface="Calibri"/>
              </a:rPr>
              <a:t>Helping autistic children travel with more joy and less fear — one calm sky at a time.</a:t>
            </a:r>
          </a:p>
        </p:txBody>
      </p:sp>
      <p:sp>
        <p:nvSpPr>
          <p:cNvPr id="100008" name="URL"/>
          <p:cNvSpPr txBox="1"/>
          <p:nvPr/>
        </p:nvSpPr>
        <p:spPr>
          <a:xfrm xmlns:a="http://schemas.openxmlformats.org/drawingml/2006/main">
            <a:off x="1080000" y="5220000"/>
            <a:ext cx="504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0">
                <a:solidFill>
                  <a:srgbClr val="2E7CB8"/>
                </a:solidFill>
                <a:latin typeface="Calibri"/>
                <a:ea typeface="Calibri"/>
              </a:rPr>
              <a:t>calmskiestravel.com</a:t>
            </a:r>
          </a:p>
        </p:txBody>
      </p:sp>
      <p:sp>
        <p:nvSpPr>
          <p:cNvPr id="100009" name="BobBadge"/>
          <p:cNvSpPr txBox="1"/>
          <p:nvPr/>
        </p:nvSpPr>
        <p:spPr>
          <a:xfrm xmlns:a="http://schemas.openxmlformats.org/drawingml/2006/main">
            <a:off x="144000" y="6336000"/>
            <a:ext cx="2880000" cy="39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FFFFFF"/>
                </a:solidFill>
                <a:latin typeface="Calibri"/>
                <a:ea typeface="Calibri"/>
              </a:rPr>
              <a:t>🤖 IBM Bobathon</a:t>
            </a:r>
          </a:p>
        </p:txBody>
      </p:sp>
    </p:spTree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BFF"/>
        </a:solidFill>
      </p:bgPr>
    </p:bg>
    <p:spTree>
      <p:nvGrpSpPr>
        <p:cNvPr id="1" name=""/>
        <p:cNvGrpSpPr/>
        <p:nvPr/>
      </p:nvGrpSpPr>
      <p:grpSpPr/>
      <p:sp>
        <p:nvSpPr>
          <p:cNvPr id="100010" name="HeaderBar"/>
          <p:cNvSpPr txBox="1"/>
          <p:nvPr/>
        </p:nvSpPr>
        <p:spPr>
          <a:xfrm xmlns:a="http://schemas.openxmlformats.org/drawingml/2006/main">
            <a:off x="0" y="0"/>
            <a:ext cx="12193200" cy="6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A4C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>
              <a:solidFill>
                <a:srgbClr val="5BA4CF"/>
              </a:solidFill>
            </a:endParaRPr>
          </a:p>
        </p:txBody>
      </p:sp>
      <p:sp>
        <p:nvSpPr>
          <p:cNvPr id="100011" name="BottomBar"/>
          <p:cNvSpPr txBox="1"/>
          <p:nvPr/>
        </p:nvSpPr>
        <p:spPr>
          <a:xfrm xmlns:a="http://schemas.openxmlformats.org/drawingml/2006/main">
            <a:off x="0" y="6300000"/>
            <a:ext cx="121932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CB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>
              <a:solidFill>
                <a:srgbClr val="2E7CB8"/>
              </a:solidFill>
            </a:endParaRPr>
          </a:p>
        </p:txBody>
      </p:sp>
      <p:sp>
        <p:nvSpPr>
          <p:cNvPr id="100012" name="SlideTitle"/>
          <p:cNvSpPr txBox="1"/>
          <p:nvPr/>
        </p:nvSpPr>
        <p:spPr>
          <a:xfrm xmlns:a="http://schemas.openxmlformats.org/drawingml/2006/main">
            <a:off x="540000" y="72000"/>
            <a:ext cx="10800000" cy="50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800" b="1">
                <a:solidFill>
                  <a:srgbClr val="FFFFFF"/>
                </a:solidFill>
                <a:latin typeface="Calibri"/>
                <a:ea typeface="Calibri"/>
              </a:rPr>
              <a:t>Why I Started This</a:t>
            </a:r>
          </a:p>
        </p:txBody>
      </p:sp>
      <p:sp>
        <p:nvSpPr>
          <p:cNvPr id="100013" name="ImagePlaceholder"/>
          <p:cNvSpPr txBox="1"/>
          <p:nvPr/>
        </p:nvSpPr>
        <p:spPr>
          <a:xfrm xmlns:a="http://schemas.openxmlformats.org/drawingml/2006/main">
            <a:off x="288000" y="792000"/>
            <a:ext cx="5220000" cy="46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D4E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0">
                <a:solidFill>
                  <a:srgbClr val="718096"/>
                </a:solidFill>
                <a:latin typeface="Calibri"/>
                <a:ea typeface="Calibri"/>
              </a:rPr>
              <a:t>📸 LaGuardia Nightmare</a:t>
            </a:r>
          </a:p>
          <a:p xmlns:a="http://schemas.openxmlformats.org/drawingml/2006/main">
            <a:r>
              <a:rPr lang="en-US" sz="1400" b="0">
                <a:solidFill>
                  <a:srgbClr val="718096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400" b="0">
                <a:solidFill>
                  <a:srgbClr val="718096"/>
                </a:solidFill>
                <a:latin typeface="Calibri"/>
                <a:ea typeface="Calibri"/>
              </a:rPr>
              <a:t>[LaGuardiaNightmare.png]</a:t>
            </a:r>
          </a:p>
        </p:txBody>
      </p:sp>
      <p:sp>
        <p:nvSpPr>
          <p:cNvPr id="100014" name="Caption"/>
          <p:cNvSpPr txBox="1"/>
          <p:nvPr/>
        </p:nvSpPr>
        <p:spPr>
          <a:xfrm xmlns:a="http://schemas.openxmlformats.org/drawingml/2006/main">
            <a:off x="288000" y="5472000"/>
            <a:ext cx="522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0">
                <a:solidFill>
                  <a:srgbClr val="718096"/>
                </a:solidFill>
                <a:latin typeface="Calibri"/>
                <a:ea typeface="Calibri"/>
              </a:rPr>
              <a:t>LaGuardia Airport — the day that started it all.</a:t>
            </a:r>
          </a:p>
        </p:txBody>
      </p:sp>
      <p:sp>
        <p:nvSpPr>
          <p:cNvPr id="100015" name="Story"/>
          <p:cNvSpPr txBox="1"/>
          <p:nvPr/>
        </p:nvSpPr>
        <p:spPr>
          <a:xfrm xmlns:a="http://schemas.openxmlformats.org/drawingml/2006/main">
            <a:off x="5940000" y="792000"/>
            <a:ext cx="5940000" cy="504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0">
                <a:solidFill>
                  <a:srgbClr val="2D3748"/>
                </a:solidFill>
                <a:latin typeface="Calibri"/>
                <a:ea typeface="Calibri"/>
              </a:rPr>
              <a:t>My family was flying to Florida to visit my mom.</a:t>
            </a:r>
          </a:p>
          <a:p xmlns:a="http://schemas.openxmlformats.org/drawingml/2006/main">
            <a:r>
              <a:rPr lang="en-US" sz="1600" b="0">
                <a:solidFill>
                  <a:srgbClr val="2D3748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600" b="0">
                <a:solidFill>
                  <a:srgbClr val="2D3748"/>
                </a:solidFill>
                <a:latin typeface="Calibri"/>
                <a:ea typeface="Calibri"/>
              </a:rPr>
              <a:t>My daughter, who is autistic, generally loves to travel. We always pack a go bag — fidgets, snacks, chewelry, noise-canceling headphones and preloaded music.</a:t>
            </a:r>
          </a:p>
          <a:p xmlns:a="http://schemas.openxmlformats.org/drawingml/2006/main">
            <a:r>
              <a:rPr lang="en-US" sz="1600" b="0">
                <a:solidFill>
                  <a:srgbClr val="2D3748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600" b="0">
                <a:solidFill>
                  <a:srgbClr val="2D3748"/>
                </a:solidFill>
                <a:latin typeface="Calibri"/>
                <a:ea typeface="Calibri"/>
              </a:rPr>
              <a:t>But that day, LaGuardia was packed. The security line was overwhelming.</a:t>
            </a:r>
          </a:p>
          <a:p xmlns:a="http://schemas.openxmlformats.org/drawingml/2006/main">
            <a:r>
              <a:rPr lang="en-US" sz="1600" b="0">
                <a:solidFill>
                  <a:srgbClr val="2D3748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600" b="0">
                <a:solidFill>
                  <a:srgbClr val="2D3748"/>
                </a:solidFill>
                <a:latin typeface="Calibri"/>
                <a:ea typeface="Calibri"/>
              </a:rPr>
              <a:t>The staff were incredibly helpful — they knew some signs to look for. Still, the day would have gone much better if I had known how to travel calmly through the skies.</a:t>
            </a:r>
          </a:p>
          <a:p xmlns:a="http://schemas.openxmlformats.org/drawingml/2006/main">
            <a:r>
              <a:rPr lang="en-US" sz="1600" b="0">
                <a:solidFill>
                  <a:srgbClr val="2D3748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600" b="0">
                <a:solidFill>
                  <a:srgbClr val="2D3748"/>
                </a:solidFill>
                <a:latin typeface="Calibri"/>
                <a:ea typeface="Calibri"/>
              </a:rPr>
              <a:t>This is for every family in a similar situation.</a:t>
            </a:r>
          </a:p>
          <a:p xmlns:a="http://schemas.openxmlformats.org/drawingml/2006/main">
            <a:r>
              <a:rPr lang="en-US" sz="1600" b="0">
                <a:solidFill>
                  <a:srgbClr val="2D3748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600" b="0">
                <a:solidFill>
                  <a:srgbClr val="2D3748"/>
                </a:solidFill>
                <a:latin typeface="Calibri"/>
                <a:ea typeface="Calibri"/>
              </a:rPr>
              <a:t>— A.J. Aronoff</a:t>
            </a:r>
          </a:p>
        </p:txBody>
      </p:sp>
      <p:sp>
        <p:nvSpPr>
          <p:cNvPr id="100016" name="BobBadge"/>
          <p:cNvSpPr txBox="1"/>
          <p:nvPr/>
        </p:nvSpPr>
        <p:spPr>
          <a:xfrm xmlns:a="http://schemas.openxmlformats.org/drawingml/2006/main">
            <a:off x="144000" y="6336000"/>
            <a:ext cx="2880000" cy="39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FFFFFF"/>
                </a:solidFill>
                <a:latin typeface="Calibri"/>
                <a:ea typeface="Calibri"/>
              </a:rPr>
              <a:t>🤖 IBM Bobathon</a:t>
            </a:r>
          </a:p>
        </p:txBody>
      </p:sp>
    </p:spTree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BFF"/>
        </a:solidFill>
      </p:bgPr>
    </p:bg>
    <p:spTree>
      <p:nvGrpSpPr>
        <p:cNvPr id="1" name=""/>
        <p:cNvGrpSpPr/>
        <p:nvPr/>
      </p:nvGrpSpPr>
      <p:grpSpPr/>
      <p:sp>
        <p:nvSpPr>
          <p:cNvPr id="100017" name="HeaderBar"/>
          <p:cNvSpPr txBox="1"/>
          <p:nvPr/>
        </p:nvSpPr>
        <p:spPr>
          <a:xfrm xmlns:a="http://schemas.openxmlformats.org/drawingml/2006/main">
            <a:off x="0" y="0"/>
            <a:ext cx="12193200" cy="6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A4C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>
              <a:solidFill>
                <a:srgbClr val="5BA4CF"/>
              </a:solidFill>
            </a:endParaRPr>
          </a:p>
        </p:txBody>
      </p:sp>
      <p:sp>
        <p:nvSpPr>
          <p:cNvPr id="100018" name="BottomBar"/>
          <p:cNvSpPr txBox="1"/>
          <p:nvPr/>
        </p:nvSpPr>
        <p:spPr>
          <a:xfrm xmlns:a="http://schemas.openxmlformats.org/drawingml/2006/main">
            <a:off x="0" y="6300000"/>
            <a:ext cx="121932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CB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>
              <a:solidFill>
                <a:srgbClr val="2E7CB8"/>
              </a:solidFill>
            </a:endParaRPr>
          </a:p>
        </p:txBody>
      </p:sp>
      <p:sp>
        <p:nvSpPr>
          <p:cNvPr id="100019" name="SlideTitle"/>
          <p:cNvSpPr txBox="1"/>
          <p:nvPr/>
        </p:nvSpPr>
        <p:spPr>
          <a:xfrm xmlns:a="http://schemas.openxmlformats.org/drawingml/2006/main">
            <a:off x="540000" y="72000"/>
            <a:ext cx="10800000" cy="50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800" b="1">
                <a:solidFill>
                  <a:srgbClr val="FFFFFF"/>
                </a:solidFill>
                <a:latin typeface="Calibri"/>
                <a:ea typeface="Calibri"/>
              </a:rPr>
              <a:t>One Guide. Two Voices.</a:t>
            </a:r>
          </a:p>
        </p:txBody>
      </p:sp>
      <p:sp>
        <p:nvSpPr>
          <p:cNvPr id="100020" name="Intro"/>
          <p:cNvSpPr txBox="1"/>
          <p:nvPr/>
        </p:nvSpPr>
        <p:spPr>
          <a:xfrm xmlns:a="http://schemas.openxmlformats.org/drawingml/2006/main">
            <a:off x="720000" y="792000"/>
            <a:ext cx="10800000" cy="54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 b="0">
                <a:solidFill>
                  <a:srgbClr val="2D3748"/>
                </a:solidFill>
                <a:latin typeface="Calibri"/>
                <a:ea typeface="Calibri"/>
              </a:rPr>
              <a:t>Every topic on Calm Skies Travel speaks in two voices — one for the parent, one for the child. The child always comes first.</a:t>
            </a:r>
          </a:p>
        </p:txBody>
      </p:sp>
      <p:sp>
        <p:nvSpPr>
          <p:cNvPr id="100021" name="ParentCard"/>
          <p:cNvSpPr txBox="1"/>
          <p:nvPr/>
        </p:nvSpPr>
        <p:spPr>
          <a:xfrm xmlns:a="http://schemas.openxmlformats.org/drawingml/2006/main">
            <a:off x="540000" y="1512000"/>
            <a:ext cx="5220000" cy="39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D4E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 b="0">
                <a:solidFill>
                  <a:srgbClr val="2D3748"/>
                </a:solidFill>
                <a:latin typeface="Calibri"/>
                <a:ea typeface="Calibri"/>
              </a:rPr>
              <a:t>👨‍👧  For the Parent</a:t>
            </a:r>
          </a:p>
          <a:p xmlns:a="http://schemas.openxmlformats.org/drawingml/2006/main">
            <a:r>
              <a:rPr lang="en-US" sz="1500" b="0">
                <a:solidFill>
                  <a:srgbClr val="2D3748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500" b="0">
                <a:solidFill>
                  <a:srgbClr val="2D3748"/>
                </a:solidFill>
                <a:latin typeface="Calibri"/>
                <a:ea typeface="Calibri"/>
              </a:rPr>
              <a:t>• Step-by-step checklists</a:t>
            </a:r>
          </a:p>
          <a:p xmlns:a="http://schemas.openxmlformats.org/drawingml/2006/main">
            <a:r>
              <a:rPr lang="en-US" sz="1500" b="0">
                <a:solidFill>
                  <a:srgbClr val="2D3748"/>
                </a:solidFill>
                <a:latin typeface="Calibri"/>
                <a:ea typeface="Calibri"/>
              </a:rPr>
              <a:t>• Tips for each travel stage</a:t>
            </a:r>
          </a:p>
          <a:p xmlns:a="http://schemas.openxmlformats.org/drawingml/2006/main">
            <a:r>
              <a:rPr lang="en-US" sz="1500" b="0">
                <a:solidFill>
                  <a:srgbClr val="2D3748"/>
                </a:solidFill>
                <a:latin typeface="Calibri"/>
                <a:ea typeface="Calibri"/>
              </a:rPr>
              <a:t>• How to set up DPNA, TSA Cares, Sunflower Lanyard</a:t>
            </a:r>
          </a:p>
          <a:p xmlns:a="http://schemas.openxmlformats.org/drawingml/2006/main">
            <a:r>
              <a:rPr lang="en-US" sz="1500" b="0">
                <a:solidFill>
                  <a:srgbClr val="2D3748"/>
                </a:solidFill>
                <a:latin typeface="Calibri"/>
                <a:ea typeface="Calibri"/>
              </a:rPr>
              <a:t>• Meltdown plan: before, during, after</a:t>
            </a:r>
          </a:p>
          <a:p xmlns:a="http://schemas.openxmlformats.org/drawingml/2006/main">
            <a:r>
              <a:rPr lang="en-US" sz="1500" b="0">
                <a:solidFill>
                  <a:srgbClr val="2D3748"/>
                </a:solidFill>
                <a:latin typeface="Calibri"/>
                <a:ea typeface="Calibri"/>
              </a:rPr>
              <a:t>• Pack the Calm — the go bag guide</a:t>
            </a:r>
          </a:p>
          <a:p xmlns:a="http://schemas.openxmlformats.org/drawingml/2006/main">
            <a:r>
              <a:rPr lang="en-US" sz="1500" b="0">
                <a:solidFill>
                  <a:srgbClr val="2D3748"/>
                </a:solidFill>
                <a:latin typeface="Calibri"/>
                <a:ea typeface="Calibri"/>
              </a:rPr>
              <a:t>• Ship ahead to the destination</a:t>
            </a:r>
          </a:p>
        </p:txBody>
      </p:sp>
      <p:sp>
        <p:nvSpPr>
          <p:cNvPr id="100022" name="ChildCard"/>
          <p:cNvSpPr txBox="1"/>
          <p:nvPr/>
        </p:nvSpPr>
        <p:spPr>
          <a:xfrm xmlns:a="http://schemas.openxmlformats.org/drawingml/2006/main">
            <a:off x="6300000" y="1512000"/>
            <a:ext cx="5220000" cy="39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DFC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 b="0">
                <a:solidFill>
                  <a:srgbClr val="2D3748"/>
                </a:solidFill>
                <a:latin typeface="Calibri"/>
                <a:ea typeface="Calibri"/>
              </a:rPr>
              <a:t>🌟  For the Child</a:t>
            </a:r>
          </a:p>
          <a:p xmlns:a="http://schemas.openxmlformats.org/drawingml/2006/main">
            <a:r>
              <a:rPr lang="en-US" sz="1500" b="0">
                <a:solidFill>
                  <a:srgbClr val="2D3748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500" b="0">
                <a:solidFill>
                  <a:srgbClr val="2D3748"/>
                </a:solidFill>
                <a:latin typeface="Calibri"/>
                <a:ea typeface="Calibri"/>
              </a:rPr>
              <a:t>• Simple, friendly, first-person words</a:t>
            </a:r>
          </a:p>
          <a:p xmlns:a="http://schemas.openxmlformats.org/drawingml/2006/main">
            <a:r>
              <a:rPr lang="en-US" sz="1500" b="0">
                <a:solidFill>
                  <a:srgbClr val="2D3748"/>
                </a:solidFill>
                <a:latin typeface="Calibri"/>
                <a:ea typeface="Calibri"/>
              </a:rPr>
              <a:t>• I am going to... I will see...</a:t>
            </a:r>
          </a:p>
          <a:p xmlns:a="http://schemas.openxmlformats.org/drawingml/2006/main">
            <a:r>
              <a:rPr lang="en-US" sz="1500" b="0">
                <a:solidFill>
                  <a:srgbClr val="2D3748"/>
                </a:solidFill>
                <a:latin typeface="Calibri"/>
                <a:ea typeface="Calibri"/>
              </a:rPr>
              <a:t>• What helps me feel calm</a:t>
            </a:r>
          </a:p>
          <a:p xmlns:a="http://schemas.openxmlformats.org/drawingml/2006/main">
            <a:r>
              <a:rPr lang="en-US" sz="1500" b="0">
                <a:solidFill>
                  <a:srgbClr val="2D3748"/>
                </a:solidFill>
                <a:latin typeface="Calibri"/>
                <a:ea typeface="Calibri"/>
              </a:rPr>
              <a:t>• My own travel story — just for me</a:t>
            </a:r>
          </a:p>
          <a:p xmlns:a="http://schemas.openxmlformats.org/drawingml/2006/main">
            <a:r>
              <a:rPr lang="en-US" sz="1500" b="0">
                <a:solidFill>
                  <a:srgbClr val="2D3748"/>
                </a:solidFill>
                <a:latin typeface="Calibri"/>
                <a:ea typeface="Calibri"/>
              </a:rPr>
              <a:t>• Pictures at every step</a:t>
            </a:r>
          </a:p>
          <a:p xmlns:a="http://schemas.openxmlformats.org/drawingml/2006/main">
            <a:r>
              <a:rPr lang="en-US" sz="1500" b="0">
                <a:solidFill>
                  <a:srgbClr val="2D3748"/>
                </a:solidFill>
                <a:latin typeface="Calibri"/>
                <a:ea typeface="Calibri"/>
              </a:rPr>
              <a:t>• Always from MY point of view</a:t>
            </a:r>
          </a:p>
        </p:txBody>
      </p:sp>
      <p:sp>
        <p:nvSpPr>
          <p:cNvPr id="100023" name="BobBadge"/>
          <p:cNvSpPr txBox="1"/>
          <p:nvPr/>
        </p:nvSpPr>
        <p:spPr>
          <a:xfrm xmlns:a="http://schemas.openxmlformats.org/drawingml/2006/main">
            <a:off x="144000" y="6336000"/>
            <a:ext cx="2880000" cy="39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FFFFFF"/>
                </a:solidFill>
                <a:latin typeface="Calibri"/>
                <a:ea typeface="Calibri"/>
              </a:rPr>
              <a:t>🤖 IBM Bobathon</a:t>
            </a:r>
          </a:p>
        </p:txBody>
      </p:sp>
    </p:spTree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BFF"/>
        </a:solidFill>
      </p:bgPr>
    </p:bg>
    <p:spTree>
      <p:nvGrpSpPr>
        <p:cNvPr id="1" name=""/>
        <p:cNvGrpSpPr/>
        <p:nvPr/>
      </p:nvGrpSpPr>
      <p:grpSpPr/>
      <p:sp>
        <p:nvSpPr>
          <p:cNvPr id="100024" name="HeaderBar"/>
          <p:cNvSpPr txBox="1"/>
          <p:nvPr/>
        </p:nvSpPr>
        <p:spPr>
          <a:xfrm xmlns:a="http://schemas.openxmlformats.org/drawingml/2006/main">
            <a:off x="0" y="0"/>
            <a:ext cx="12193200" cy="6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A4C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>
              <a:solidFill>
                <a:srgbClr val="5BA4CF"/>
              </a:solidFill>
            </a:endParaRPr>
          </a:p>
        </p:txBody>
      </p:sp>
      <p:sp>
        <p:nvSpPr>
          <p:cNvPr id="100025" name="BottomBar"/>
          <p:cNvSpPr txBox="1"/>
          <p:nvPr/>
        </p:nvSpPr>
        <p:spPr>
          <a:xfrm xmlns:a="http://schemas.openxmlformats.org/drawingml/2006/main">
            <a:off x="0" y="6300000"/>
            <a:ext cx="121932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CB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>
              <a:solidFill>
                <a:srgbClr val="2E7CB8"/>
              </a:solidFill>
            </a:endParaRPr>
          </a:p>
        </p:txBody>
      </p:sp>
      <p:sp>
        <p:nvSpPr>
          <p:cNvPr id="100026" name="SlideTitle"/>
          <p:cNvSpPr txBox="1"/>
          <p:nvPr/>
        </p:nvSpPr>
        <p:spPr>
          <a:xfrm xmlns:a="http://schemas.openxmlformats.org/drawingml/2006/main">
            <a:off x="540000" y="72000"/>
            <a:ext cx="10800000" cy="50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800" b="1">
                <a:solidFill>
                  <a:srgbClr val="FFFFFF"/>
                </a:solidFill>
                <a:latin typeface="Calibri"/>
                <a:ea typeface="Calibri"/>
              </a:rPr>
              <a:t>The Journey — Step by Step</a:t>
            </a:r>
          </a:p>
        </p:txBody>
      </p:sp>
      <p:sp>
        <p:nvSpPr>
          <p:cNvPr id="100027" name="SubTitle"/>
          <p:cNvSpPr txBox="1"/>
          <p:nvPr/>
        </p:nvSpPr>
        <p:spPr>
          <a:xfrm xmlns:a="http://schemas.openxmlformats.org/drawingml/2006/main">
            <a:off x="720000" y="792000"/>
            <a:ext cx="10800000" cy="2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0">
                <a:solidFill>
                  <a:srgbClr val="718096"/>
                </a:solidFill>
                <a:latin typeface="Calibri"/>
                <a:ea typeface="Calibri"/>
              </a:rPr>
              <a:t>Always from the child's point of view.</a:t>
            </a:r>
          </a:p>
        </p:txBody>
      </p:sp>
      <p:sp>
        <p:nvSpPr>
          <p:cNvPr id="100028" name="Step1"/>
          <p:cNvSpPr txBox="1"/>
          <p:nvPr/>
        </p:nvSpPr>
        <p:spPr>
          <a:xfrm xmlns:a="http://schemas.openxmlformats.org/drawingml/2006/main">
            <a:off x="360000" y="1152000"/>
            <a:ext cx="1980000" cy="18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DFC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0">
                <a:solidFill>
                  <a:srgbClr val="2D3748"/>
                </a:solidFill>
                <a:latin typeface="Calibri"/>
                <a:ea typeface="Calibri"/>
              </a:rPr>
              <a:t>🏠</a:t>
            </a:r>
          </a:p>
          <a:p xmlns:a="http://schemas.openxmlformats.org/drawingml/2006/main">
            <a:r>
              <a:rPr lang="en-US" sz="1400" b="0">
                <a:solidFill>
                  <a:srgbClr val="2D3748"/>
                </a:solidFill>
                <a:latin typeface="Calibri"/>
                <a:ea typeface="Calibri"/>
              </a:rPr>
              <a:t>I get ready</a:t>
            </a:r>
          </a:p>
          <a:p xmlns:a="http://schemas.openxmlformats.org/drawingml/2006/main">
            <a:r>
              <a:rPr lang="en-US" sz="1400" b="0">
                <a:solidFill>
                  <a:srgbClr val="2D3748"/>
                </a:solidFill>
                <a:latin typeface="Calibri"/>
                <a:ea typeface="Calibri"/>
              </a:rPr>
              <a:t>at home</a:t>
            </a:r>
          </a:p>
        </p:txBody>
      </p:sp>
      <p:sp>
        <p:nvSpPr>
          <p:cNvPr id="100029" name="Arrow1"/>
          <p:cNvSpPr txBox="1"/>
          <p:nvPr/>
        </p:nvSpPr>
        <p:spPr>
          <a:xfrm xmlns:a="http://schemas.openxmlformats.org/drawingml/2006/main">
            <a:off x="2448000" y="1620000"/>
            <a:ext cx="540000" cy="72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800" b="1">
                <a:solidFill>
                  <a:srgbClr val="5BA4CF"/>
                </a:solidFill>
                <a:latin typeface="Calibri"/>
                <a:ea typeface="Calibri"/>
              </a:rPr>
              <a:t>→</a:t>
            </a:r>
          </a:p>
        </p:txBody>
      </p:sp>
      <p:sp>
        <p:nvSpPr>
          <p:cNvPr id="100030" name="Step2"/>
          <p:cNvSpPr txBox="1"/>
          <p:nvPr/>
        </p:nvSpPr>
        <p:spPr>
          <a:xfrm xmlns:a="http://schemas.openxmlformats.org/drawingml/2006/main">
            <a:off x="3060000" y="1152000"/>
            <a:ext cx="1980000" cy="18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D4E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0">
                <a:solidFill>
                  <a:srgbClr val="2D3748"/>
                </a:solidFill>
                <a:latin typeface="Calibri"/>
                <a:ea typeface="Calibri"/>
              </a:rPr>
              <a:t>✈</a:t>
            </a:r>
          </a:p>
          <a:p xmlns:a="http://schemas.openxmlformats.org/drawingml/2006/main">
            <a:r>
              <a:rPr lang="en-US" sz="1400" b="0">
                <a:solidFill>
                  <a:srgbClr val="2D3748"/>
                </a:solidFill>
                <a:latin typeface="Calibri"/>
                <a:ea typeface="Calibri"/>
              </a:rPr>
              <a:t>I go to the</a:t>
            </a:r>
          </a:p>
          <a:p xmlns:a="http://schemas.openxmlformats.org/drawingml/2006/main">
            <a:r>
              <a:rPr lang="en-US" sz="1400" b="0">
                <a:solidFill>
                  <a:srgbClr val="2D3748"/>
                </a:solidFill>
                <a:latin typeface="Calibri"/>
                <a:ea typeface="Calibri"/>
              </a:rPr>
              <a:t>airport</a:t>
            </a:r>
          </a:p>
        </p:txBody>
      </p:sp>
      <p:sp>
        <p:nvSpPr>
          <p:cNvPr id="100031" name="Arrow2"/>
          <p:cNvSpPr txBox="1"/>
          <p:nvPr/>
        </p:nvSpPr>
        <p:spPr>
          <a:xfrm xmlns:a="http://schemas.openxmlformats.org/drawingml/2006/main">
            <a:off x="5148000" y="1620000"/>
            <a:ext cx="540000" cy="72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800" b="1">
                <a:solidFill>
                  <a:srgbClr val="5BA4CF"/>
                </a:solidFill>
                <a:latin typeface="Calibri"/>
                <a:ea typeface="Calibri"/>
              </a:rPr>
              <a:t>→</a:t>
            </a:r>
          </a:p>
        </p:txBody>
      </p:sp>
      <p:sp>
        <p:nvSpPr>
          <p:cNvPr id="100032" name="Step3"/>
          <p:cNvSpPr txBox="1"/>
          <p:nvPr/>
        </p:nvSpPr>
        <p:spPr>
          <a:xfrm xmlns:a="http://schemas.openxmlformats.org/drawingml/2006/main">
            <a:off x="5760000" y="1152000"/>
            <a:ext cx="1980000" cy="18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D4E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0">
                <a:solidFill>
                  <a:srgbClr val="2D3748"/>
                </a:solidFill>
                <a:latin typeface="Calibri"/>
                <a:ea typeface="Calibri"/>
              </a:rPr>
              <a:t>🛫</a:t>
            </a:r>
          </a:p>
          <a:p xmlns:a="http://schemas.openxmlformats.org/drawingml/2006/main">
            <a:r>
              <a:rPr lang="en-US" sz="1400" b="0">
                <a:solidFill>
                  <a:srgbClr val="2D3748"/>
                </a:solidFill>
                <a:latin typeface="Calibri"/>
                <a:ea typeface="Calibri"/>
              </a:rPr>
              <a:t>I get on</a:t>
            </a:r>
          </a:p>
          <a:p xmlns:a="http://schemas.openxmlformats.org/drawingml/2006/main">
            <a:r>
              <a:rPr lang="en-US" sz="1400" b="0">
                <a:solidFill>
                  <a:srgbClr val="2D3748"/>
                </a:solidFill>
                <a:latin typeface="Calibri"/>
                <a:ea typeface="Calibri"/>
              </a:rPr>
              <a:t>my plane</a:t>
            </a:r>
          </a:p>
        </p:txBody>
      </p:sp>
      <p:sp>
        <p:nvSpPr>
          <p:cNvPr id="100033" name="Arrow3"/>
          <p:cNvSpPr txBox="1"/>
          <p:nvPr/>
        </p:nvSpPr>
        <p:spPr>
          <a:xfrm xmlns:a="http://schemas.openxmlformats.org/drawingml/2006/main">
            <a:off x="7848000" y="1620000"/>
            <a:ext cx="540000" cy="72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800" b="1">
                <a:solidFill>
                  <a:srgbClr val="5BA4CF"/>
                </a:solidFill>
                <a:latin typeface="Calibri"/>
                <a:ea typeface="Calibri"/>
              </a:rPr>
              <a:t>→</a:t>
            </a:r>
          </a:p>
        </p:txBody>
      </p:sp>
      <p:sp>
        <p:nvSpPr>
          <p:cNvPr id="100034" name="Step4"/>
          <p:cNvSpPr txBox="1"/>
          <p:nvPr/>
        </p:nvSpPr>
        <p:spPr>
          <a:xfrm xmlns:a="http://schemas.openxmlformats.org/drawingml/2006/main">
            <a:off x="8460000" y="1152000"/>
            <a:ext cx="1980000" cy="18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DFC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0">
                <a:solidFill>
                  <a:srgbClr val="2D3748"/>
                </a:solidFill>
                <a:latin typeface="Calibri"/>
                <a:ea typeface="Calibri"/>
              </a:rPr>
              <a:t>🌟</a:t>
            </a:r>
          </a:p>
          <a:p xmlns:a="http://schemas.openxmlformats.org/drawingml/2006/main">
            <a:r>
              <a:rPr lang="en-US" sz="1400" b="0">
                <a:solidFill>
                  <a:srgbClr val="2D3748"/>
                </a:solidFill>
                <a:latin typeface="Calibri"/>
                <a:ea typeface="Calibri"/>
              </a:rPr>
              <a:t>I arrive and</a:t>
            </a:r>
          </a:p>
          <a:p xmlns:a="http://schemas.openxmlformats.org/drawingml/2006/main">
            <a:r>
              <a:rPr lang="en-US" sz="1400" b="0">
                <a:solidFill>
                  <a:srgbClr val="2D3748"/>
                </a:solidFill>
                <a:latin typeface="Calibri"/>
                <a:ea typeface="Calibri"/>
              </a:rPr>
              <a:t>see my family</a:t>
            </a:r>
          </a:p>
        </p:txBody>
      </p:sp>
      <p:sp>
        <p:nvSpPr>
          <p:cNvPr id="100035" name="Arrow4"/>
          <p:cNvSpPr txBox="1"/>
          <p:nvPr/>
        </p:nvSpPr>
        <p:spPr>
          <a:xfrm xmlns:a="http://schemas.openxmlformats.org/drawingml/2006/main">
            <a:off x="10548000" y="1620000"/>
            <a:ext cx="540000" cy="72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800" b="1">
                <a:solidFill>
                  <a:srgbClr val="5BA4CF"/>
                </a:solidFill>
                <a:latin typeface="Calibri"/>
                <a:ea typeface="Calibri"/>
              </a:rPr>
              <a:t>→</a:t>
            </a:r>
          </a:p>
        </p:txBody>
      </p:sp>
      <p:sp>
        <p:nvSpPr>
          <p:cNvPr id="100036" name="Step5"/>
          <p:cNvSpPr txBox="1"/>
          <p:nvPr/>
        </p:nvSpPr>
        <p:spPr>
          <a:xfrm xmlns:a="http://schemas.openxmlformats.org/drawingml/2006/main">
            <a:off x="11160000" y="1152000"/>
            <a:ext cx="900000" cy="18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DFC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0">
                <a:solidFill>
                  <a:srgbClr val="2D3748"/>
                </a:solidFill>
                <a:latin typeface="Calibri"/>
                <a:ea typeface="Calibri"/>
              </a:rPr>
              <a:t>🏡</a:t>
            </a:r>
          </a:p>
          <a:p xmlns:a="http://schemas.openxmlformats.org/drawingml/2006/main">
            <a:r>
              <a:rPr lang="en-US" sz="1100" b="0">
                <a:solidFill>
                  <a:srgbClr val="2D3748"/>
                </a:solidFill>
                <a:latin typeface="Calibri"/>
                <a:ea typeface="Calibri"/>
              </a:rPr>
              <a:t>I go home</a:t>
            </a:r>
          </a:p>
          <a:p xmlns:a="http://schemas.openxmlformats.org/drawingml/2006/main">
            <a:r>
              <a:rPr lang="en-US" sz="1100" b="0">
                <a:solidFill>
                  <a:srgbClr val="2D3748"/>
                </a:solidFill>
                <a:latin typeface="Calibri"/>
                <a:ea typeface="Calibri"/>
              </a:rPr>
              <a:t>again</a:t>
            </a:r>
          </a:p>
        </p:txBody>
      </p:sp>
      <p:sp>
        <p:nvSpPr>
          <p:cNvPr id="100037" name="Detail1"/>
          <p:cNvSpPr txBox="1"/>
          <p:nvPr/>
        </p:nvSpPr>
        <p:spPr>
          <a:xfrm xmlns:a="http://schemas.openxmlformats.org/drawingml/2006/main">
            <a:off x="360000" y="3240000"/>
            <a:ext cx="1980000" cy="18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0">
                <a:solidFill>
                  <a:srgbClr val="2D3748"/>
                </a:solidFill>
                <a:latin typeface="Calibri"/>
                <a:ea typeface="Calibri"/>
              </a:rPr>
              <a:t>Pack the Calm 🎒</a:t>
            </a:r>
          </a:p>
          <a:p xmlns:a="http://schemas.openxmlformats.org/drawingml/2006/main">
            <a:r>
              <a:rPr lang="en-US" sz="1200" b="0">
                <a:solidFill>
                  <a:srgbClr val="2D3748"/>
                </a:solidFill>
                <a:latin typeface="Calibri"/>
                <a:ea typeface="Calibri"/>
              </a:rPr>
              <a:t>Go bag ready</a:t>
            </a:r>
          </a:p>
          <a:p xmlns:a="http://schemas.openxmlformats.org/drawingml/2006/main">
            <a:r>
              <a:rPr lang="en-US" sz="1200" b="0">
                <a:solidFill>
                  <a:srgbClr val="2D3748"/>
                </a:solidFill>
                <a:latin typeface="Calibri"/>
                <a:ea typeface="Calibri"/>
              </a:rPr>
              <a:t>Social story read</a:t>
            </a:r>
          </a:p>
          <a:p xmlns:a="http://schemas.openxmlformats.org/drawingml/2006/main">
            <a:r>
              <a:rPr lang="en-US" sz="1200" b="0">
                <a:solidFill>
                  <a:srgbClr val="2D3748"/>
                </a:solidFill>
                <a:latin typeface="Calibri"/>
                <a:ea typeface="Calibri"/>
              </a:rPr>
              <a:t>Schedule visible</a:t>
            </a:r>
          </a:p>
        </p:txBody>
      </p:sp>
      <p:sp>
        <p:nvSpPr>
          <p:cNvPr id="100038" name="Detail2"/>
          <p:cNvSpPr txBox="1"/>
          <p:nvPr/>
        </p:nvSpPr>
        <p:spPr>
          <a:xfrm xmlns:a="http://schemas.openxmlformats.org/drawingml/2006/main">
            <a:off x="3060000" y="3240000"/>
            <a:ext cx="1980000" cy="18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0">
                <a:solidFill>
                  <a:srgbClr val="2D3748"/>
                </a:solidFill>
                <a:latin typeface="Calibri"/>
                <a:ea typeface="Calibri"/>
              </a:rPr>
              <a:t>Airport Time 🛂</a:t>
            </a:r>
          </a:p>
          <a:p xmlns:a="http://schemas.openxmlformats.org/drawingml/2006/main">
            <a:r>
              <a:rPr lang="en-US" sz="1200" b="0">
                <a:solidFill>
                  <a:srgbClr val="2D3748"/>
                </a:solidFill>
                <a:latin typeface="Calibri"/>
                <a:ea typeface="Calibri"/>
              </a:rPr>
              <a:t>TSA Cares</a:t>
            </a:r>
          </a:p>
          <a:p xmlns:a="http://schemas.openxmlformats.org/drawingml/2006/main">
            <a:r>
              <a:rPr lang="en-US" sz="1200" b="0">
                <a:solidFill>
                  <a:srgbClr val="2D3748"/>
                </a:solidFill>
                <a:latin typeface="Calibri"/>
                <a:ea typeface="Calibri"/>
              </a:rPr>
              <a:t>Sunflower Lanyard</a:t>
            </a:r>
          </a:p>
          <a:p xmlns:a="http://schemas.openxmlformats.org/drawingml/2006/main">
            <a:r>
              <a:rPr lang="en-US" sz="1200" b="0">
                <a:solidFill>
                  <a:srgbClr val="2D3748"/>
                </a:solidFill>
                <a:latin typeface="Calibri"/>
                <a:ea typeface="Calibri"/>
              </a:rPr>
              <a:t>Pre-boarding</a:t>
            </a:r>
          </a:p>
        </p:txBody>
      </p:sp>
      <p:sp>
        <p:nvSpPr>
          <p:cNvPr id="100039" name="Detail3"/>
          <p:cNvSpPr txBox="1"/>
          <p:nvPr/>
        </p:nvSpPr>
        <p:spPr>
          <a:xfrm xmlns:a="http://schemas.openxmlformats.org/drawingml/2006/main">
            <a:off x="5760000" y="3240000"/>
            <a:ext cx="1980000" cy="18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0">
                <a:solidFill>
                  <a:srgbClr val="2D3748"/>
                </a:solidFill>
                <a:latin typeface="Calibri"/>
                <a:ea typeface="Calibri"/>
              </a:rPr>
              <a:t>On the Plane 🎧</a:t>
            </a:r>
          </a:p>
          <a:p xmlns:a="http://schemas.openxmlformats.org/drawingml/2006/main">
            <a:r>
              <a:rPr lang="en-US" sz="1200" b="0">
                <a:solidFill>
                  <a:srgbClr val="2D3748"/>
                </a:solidFill>
                <a:latin typeface="Calibri"/>
                <a:ea typeface="Calibri"/>
              </a:rPr>
              <a:t>Headphones on</a:t>
            </a:r>
          </a:p>
          <a:p xmlns:a="http://schemas.openxmlformats.org/drawingml/2006/main">
            <a:r>
              <a:rPr lang="en-US" sz="1200" b="0">
                <a:solidFill>
                  <a:srgbClr val="2D3748"/>
                </a:solidFill>
                <a:latin typeface="Calibri"/>
                <a:ea typeface="Calibri"/>
              </a:rPr>
              <a:t>Fidgets ready</a:t>
            </a:r>
          </a:p>
          <a:p xmlns:a="http://schemas.openxmlformats.org/drawingml/2006/main">
            <a:r>
              <a:rPr lang="en-US" sz="1200" b="0">
                <a:solidFill>
                  <a:srgbClr val="2D3748"/>
                </a:solidFill>
                <a:latin typeface="Calibri"/>
                <a:ea typeface="Calibri"/>
              </a:rPr>
              <a:t>My calm playlist</a:t>
            </a:r>
          </a:p>
        </p:txBody>
      </p:sp>
      <p:sp>
        <p:nvSpPr>
          <p:cNvPr id="100040" name="Detail4"/>
          <p:cNvSpPr txBox="1"/>
          <p:nvPr/>
        </p:nvSpPr>
        <p:spPr>
          <a:xfrm xmlns:a="http://schemas.openxmlformats.org/drawingml/2006/main">
            <a:off x="8460000" y="3240000"/>
            <a:ext cx="1980000" cy="18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0">
                <a:solidFill>
                  <a:srgbClr val="2D3748"/>
                </a:solidFill>
                <a:latin typeface="Calibri"/>
                <a:ea typeface="Calibri"/>
              </a:rPr>
              <a:t>I Arrive! 💚</a:t>
            </a:r>
          </a:p>
          <a:p xmlns:a="http://schemas.openxmlformats.org/drawingml/2006/main">
            <a:r>
              <a:rPr lang="en-US" sz="1200" b="0">
                <a:solidFill>
                  <a:srgbClr val="2D3748"/>
                </a:solidFill>
                <a:latin typeface="Calibri"/>
                <a:ea typeface="Calibri"/>
              </a:rPr>
              <a:t>Familiar faces</a:t>
            </a:r>
          </a:p>
          <a:p xmlns:a="http://schemas.openxmlformats.org/drawingml/2006/main">
            <a:r>
              <a:rPr lang="en-US" sz="1200" b="0">
                <a:solidFill>
                  <a:srgbClr val="2D3748"/>
                </a:solidFill>
                <a:latin typeface="Calibri"/>
                <a:ea typeface="Calibri"/>
              </a:rPr>
              <a:t>Familiar snacks</a:t>
            </a:r>
          </a:p>
          <a:p xmlns:a="http://schemas.openxmlformats.org/drawingml/2006/main">
            <a:r>
              <a:rPr lang="en-US" sz="1200" b="0">
                <a:solidFill>
                  <a:srgbClr val="2D3748"/>
                </a:solidFill>
                <a:latin typeface="Calibri"/>
                <a:ea typeface="Calibri"/>
              </a:rPr>
              <a:t>I did it!</a:t>
            </a:r>
          </a:p>
        </p:txBody>
      </p:sp>
      <p:sp>
        <p:nvSpPr>
          <p:cNvPr id="100041" name="BobBadge"/>
          <p:cNvSpPr txBox="1"/>
          <p:nvPr/>
        </p:nvSpPr>
        <p:spPr>
          <a:xfrm xmlns:a="http://schemas.openxmlformats.org/drawingml/2006/main">
            <a:off x="144000" y="6336000"/>
            <a:ext cx="2880000" cy="39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FFFFFF"/>
                </a:solidFill>
                <a:latin typeface="Calibri"/>
                <a:ea typeface="Calibri"/>
              </a:rPr>
              <a:t>🤖 IBM Bobathon</a:t>
            </a:r>
          </a:p>
        </p:txBody>
      </p:sp>
    </p:spTree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BFF"/>
        </a:solidFill>
      </p:bgPr>
    </p:bg>
    <p:spTree>
      <p:nvGrpSpPr>
        <p:cNvPr id="1" name=""/>
        <p:cNvGrpSpPr/>
        <p:nvPr/>
      </p:nvGrpSpPr>
      <p:grpSpPr/>
      <p:sp>
        <p:nvSpPr>
          <p:cNvPr id="100042" name="HeaderBar"/>
          <p:cNvSpPr txBox="1"/>
          <p:nvPr/>
        </p:nvSpPr>
        <p:spPr>
          <a:xfrm xmlns:a="http://schemas.openxmlformats.org/drawingml/2006/main">
            <a:off x="0" y="0"/>
            <a:ext cx="12193200" cy="6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A4C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>
              <a:solidFill>
                <a:srgbClr val="5BA4CF"/>
              </a:solidFill>
            </a:endParaRPr>
          </a:p>
        </p:txBody>
      </p:sp>
      <p:sp>
        <p:nvSpPr>
          <p:cNvPr id="100043" name="BottomBar"/>
          <p:cNvSpPr txBox="1"/>
          <p:nvPr/>
        </p:nvSpPr>
        <p:spPr>
          <a:xfrm xmlns:a="http://schemas.openxmlformats.org/drawingml/2006/main">
            <a:off x="0" y="6300000"/>
            <a:ext cx="121932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CB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>
              <a:solidFill>
                <a:srgbClr val="2E7CB8"/>
              </a:solidFill>
            </a:endParaRPr>
          </a:p>
        </p:txBody>
      </p:sp>
      <p:sp>
        <p:nvSpPr>
          <p:cNvPr id="100044" name="SlideTitle"/>
          <p:cNvSpPr txBox="1"/>
          <p:nvPr/>
        </p:nvSpPr>
        <p:spPr>
          <a:xfrm xmlns:a="http://schemas.openxmlformats.org/drawingml/2006/main">
            <a:off x="540000" y="72000"/>
            <a:ext cx="10800000" cy="50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800" b="1">
                <a:solidFill>
                  <a:srgbClr val="FFFFFF"/>
                </a:solidFill>
                <a:latin typeface="Calibri"/>
                <a:ea typeface="Calibri"/>
              </a:rPr>
              <a:t>Customizable Social Stories</a:t>
            </a:r>
          </a:p>
        </p:txBody>
      </p:sp>
      <p:sp>
        <p:nvSpPr>
          <p:cNvPr id="100045" name="Intro"/>
          <p:cNvSpPr txBox="1"/>
          <p:nvPr/>
        </p:nvSpPr>
        <p:spPr>
          <a:xfrm xmlns:a="http://schemas.openxmlformats.org/drawingml/2006/main">
            <a:off x="720000" y="792000"/>
            <a:ext cx="10800000" cy="43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700" b="0">
                <a:solidFill>
                  <a:srgbClr val="2D3748"/>
                </a:solidFill>
                <a:latin typeface="Calibri"/>
                <a:ea typeface="Calibri"/>
              </a:rPr>
              <a:t>The heart of Calm Skies Travel. A story built around YOUR child — their name, their destination, their feelings.</a:t>
            </a:r>
          </a:p>
        </p:txBody>
      </p:sp>
      <p:sp>
        <p:nvSpPr>
          <p:cNvPr id="100046" name="Story1"/>
          <p:cNvSpPr txBox="1"/>
          <p:nvPr/>
        </p:nvSpPr>
        <p:spPr>
          <a:xfrm xmlns:a="http://schemas.openxmlformats.org/drawingml/2006/main">
            <a:off x="360000" y="1512000"/>
            <a:ext cx="3420000" cy="25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DFC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0">
                <a:solidFill>
                  <a:srgbClr val="2D3748"/>
                </a:solidFill>
                <a:latin typeface="Calibri"/>
                <a:ea typeface="Calibri"/>
              </a:rPr>
              <a:t>📖  Going to Visit</a:t>
            </a:r>
          </a:p>
          <a:p xmlns:a="http://schemas.openxmlformats.org/drawingml/2006/main">
            <a:r>
              <a:rPr lang="en-US" sz="1400" b="0">
                <a:solidFill>
                  <a:srgbClr val="2D3748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400" b="0">
                <a:solidFill>
                  <a:srgbClr val="2D3748"/>
                </a:solidFill>
                <a:latin typeface="Calibri"/>
                <a:ea typeface="Calibri"/>
              </a:rPr>
              <a:t>"I am [name]. I am going to visit [grandma / friend]. I will fly on a plane. I will see [person] when I land. I am excited about [detail]."</a:t>
            </a:r>
          </a:p>
        </p:txBody>
      </p:sp>
      <p:sp>
        <p:nvSpPr>
          <p:cNvPr id="100047" name="Story2"/>
          <p:cNvSpPr txBox="1"/>
          <p:nvPr/>
        </p:nvSpPr>
        <p:spPr>
          <a:xfrm xmlns:a="http://schemas.openxmlformats.org/drawingml/2006/main">
            <a:off x="4320000" y="1512000"/>
            <a:ext cx="3420000" cy="25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D4E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0">
                <a:solidFill>
                  <a:srgbClr val="2D3748"/>
                </a:solidFill>
                <a:latin typeface="Calibri"/>
                <a:ea typeface="Calibri"/>
              </a:rPr>
              <a:t>✈️  On the Plane</a:t>
            </a:r>
          </a:p>
          <a:p xmlns:a="http://schemas.openxmlformats.org/drawingml/2006/main">
            <a:r>
              <a:rPr lang="en-US" sz="1400" b="0">
                <a:solidFill>
                  <a:srgbClr val="2D3748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400" b="0">
                <a:solidFill>
                  <a:srgbClr val="2D3748"/>
                </a:solidFill>
                <a:latin typeface="Calibri"/>
                <a:ea typeface="Calibri"/>
              </a:rPr>
              <a:t>"I am on the plane. My seat is [seat]. I have my headphones. I have my [comfort item]. If I feel worried, I can [breathe / squeeze my fidget / tell my parent]."</a:t>
            </a:r>
          </a:p>
        </p:txBody>
      </p:sp>
      <p:sp>
        <p:nvSpPr>
          <p:cNvPr id="100048" name="Story3"/>
          <p:cNvSpPr txBox="1"/>
          <p:nvPr/>
        </p:nvSpPr>
        <p:spPr>
          <a:xfrm xmlns:a="http://schemas.openxmlformats.org/drawingml/2006/main">
            <a:off x="8280000" y="1512000"/>
            <a:ext cx="3420000" cy="25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DFC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0">
                <a:solidFill>
                  <a:srgbClr val="2D3748"/>
                </a:solidFill>
                <a:latin typeface="Calibri"/>
                <a:ea typeface="Calibri"/>
              </a:rPr>
              <a:t>🌟  Land &amp; See Family</a:t>
            </a:r>
          </a:p>
          <a:p xmlns:a="http://schemas.openxmlformats.org/drawingml/2006/main">
            <a:r>
              <a:rPr lang="en-US" sz="1400" b="0">
                <a:solidFill>
                  <a:srgbClr val="2D3748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400" b="0">
                <a:solidFill>
                  <a:srgbClr val="2D3748"/>
                </a:solidFill>
                <a:latin typeface="Calibri"/>
                <a:ea typeface="Calibri"/>
              </a:rPr>
              <a:t>"The plane has landed. I did it! I will see [person] soon. They are happy I am here. We will [hug / eat / rest]. I am safe."</a:t>
            </a:r>
          </a:p>
        </p:txBody>
      </p:sp>
      <p:sp>
        <p:nvSpPr>
          <p:cNvPr id="100049" name="HowItWorks"/>
          <p:cNvSpPr txBox="1"/>
          <p:nvPr/>
        </p:nvSpPr>
        <p:spPr>
          <a:xfrm xmlns:a="http://schemas.openxmlformats.org/drawingml/2006/main">
            <a:off x="360000" y="4320000"/>
            <a:ext cx="11520000" cy="16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0">
                <a:solidFill>
                  <a:srgbClr val="2D3748"/>
                </a:solidFill>
                <a:latin typeface="Calibri"/>
                <a:ea typeface="Calibri"/>
              </a:rPr>
              <a:t>How the Story Builder works:</a:t>
            </a:r>
          </a:p>
          <a:p xmlns:a="http://schemas.openxmlformats.org/drawingml/2006/main">
            <a:r>
              <a:rPr lang="en-US" sz="1400" b="0">
                <a:solidFill>
                  <a:srgbClr val="2D3748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400" b="0">
                <a:solidFill>
                  <a:srgbClr val="2D3748"/>
                </a:solidFill>
                <a:latin typeface="Calibri"/>
                <a:ea typeface="Calibri"/>
              </a:rPr>
              <a:t>   Enter child's name, destination, who they'll see and what helps them feel calm.</a:t>
            </a:r>
          </a:p>
          <a:p xmlns:a="http://schemas.openxmlformats.org/drawingml/2006/main">
            <a:r>
              <a:rPr lang="en-US" sz="1400" b="0">
                <a:solidFill>
                  <a:srgbClr val="2D3748"/>
                </a:solidFill>
                <a:latin typeface="Calibri"/>
                <a:ea typeface="Calibri"/>
              </a:rPr>
              <a:t>   The site generates a warm, first-person story — ready to read together, print or laminate.</a:t>
            </a:r>
          </a:p>
          <a:p xmlns:a="http://schemas.openxmlformats.org/drawingml/2006/main">
            <a:r>
              <a:rPr lang="en-US" sz="1400" b="0">
                <a:solidFill>
                  <a:srgbClr val="2D3748"/>
                </a:solidFill>
                <a:latin typeface="Calibri"/>
                <a:ea typeface="Calibri"/>
              </a:rPr>
              <a:t>   Every sentence can be edited by the parent.</a:t>
            </a:r>
          </a:p>
          <a:p xmlns:a="http://schemas.openxmlformats.org/drawingml/2006/main">
            <a:r>
              <a:rPr lang="en-US" sz="1400" b="0">
                <a:solidFill>
                  <a:srgbClr val="2D3748"/>
                </a:solidFill>
                <a:latin typeface="Calibri"/>
                <a:ea typeface="Calibri"/>
              </a:rPr>
              <a:t>   Stories travel in a QR code — no account, no login, no data on any server.</a:t>
            </a:r>
          </a:p>
        </p:txBody>
      </p:sp>
      <p:sp>
        <p:nvSpPr>
          <p:cNvPr id="100050" name="BobBadge"/>
          <p:cNvSpPr txBox="1"/>
          <p:nvPr/>
        </p:nvSpPr>
        <p:spPr>
          <a:xfrm xmlns:a="http://schemas.openxmlformats.org/drawingml/2006/main">
            <a:off x="144000" y="6336000"/>
            <a:ext cx="2880000" cy="39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FFFFFF"/>
                </a:solidFill>
                <a:latin typeface="Calibri"/>
                <a:ea typeface="Calibri"/>
              </a:rPr>
              <a:t>🤖 IBM Bobathon</a:t>
            </a:r>
          </a:p>
        </p:txBody>
      </p:sp>
    </p:spTree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BFF"/>
        </a:solidFill>
      </p:bgPr>
    </p:bg>
    <p:spTree>
      <p:nvGrpSpPr>
        <p:cNvPr id="1" name=""/>
        <p:cNvGrpSpPr/>
        <p:nvPr/>
      </p:nvGrpSpPr>
      <p:grpSpPr/>
      <p:sp>
        <p:nvSpPr>
          <p:cNvPr id="100051" name="HeaderBar"/>
          <p:cNvSpPr txBox="1"/>
          <p:nvPr/>
        </p:nvSpPr>
        <p:spPr>
          <a:xfrm xmlns:a="http://schemas.openxmlformats.org/drawingml/2006/main">
            <a:off x="0" y="0"/>
            <a:ext cx="12193200" cy="6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A4C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>
              <a:solidFill>
                <a:srgbClr val="5BA4CF"/>
              </a:solidFill>
            </a:endParaRPr>
          </a:p>
        </p:txBody>
      </p:sp>
      <p:sp>
        <p:nvSpPr>
          <p:cNvPr id="100052" name="BottomBar"/>
          <p:cNvSpPr txBox="1"/>
          <p:nvPr/>
        </p:nvSpPr>
        <p:spPr>
          <a:xfrm xmlns:a="http://schemas.openxmlformats.org/drawingml/2006/main">
            <a:off x="0" y="6300000"/>
            <a:ext cx="121932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CB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>
              <a:solidFill>
                <a:srgbClr val="2E7CB8"/>
              </a:solidFill>
            </a:endParaRPr>
          </a:p>
        </p:txBody>
      </p:sp>
      <p:sp>
        <p:nvSpPr>
          <p:cNvPr id="100053" name="SlideTitle"/>
          <p:cNvSpPr txBox="1"/>
          <p:nvPr/>
        </p:nvSpPr>
        <p:spPr>
          <a:xfrm xmlns:a="http://schemas.openxmlformats.org/drawingml/2006/main">
            <a:off x="540000" y="72000"/>
            <a:ext cx="10800000" cy="50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800" b="1">
                <a:solidFill>
                  <a:srgbClr val="FFFFFF"/>
                </a:solidFill>
                <a:latin typeface="Calibri"/>
                <a:ea typeface="Calibri"/>
              </a:rPr>
              <a:t>Helpful Hints — Easy to Miss, Life Changing</a:t>
            </a:r>
          </a:p>
        </p:txBody>
      </p:sp>
      <p:sp>
        <p:nvSpPr>
          <p:cNvPr id="100054" name="Note"/>
          <p:cNvSpPr txBox="1"/>
          <p:nvPr/>
        </p:nvSpPr>
        <p:spPr>
          <a:xfrm xmlns:a="http://schemas.openxmlformats.org/drawingml/2006/main">
            <a:off x="720000" y="792000"/>
            <a:ext cx="10800000" cy="2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 b="1">
                <a:solidFill>
                  <a:srgbClr val="F4A261"/>
                </a:solidFill>
                <a:latin typeface="Calibri"/>
                <a:ea typeface="Calibri"/>
              </a:rPr>
              <a:t>Most of these must be set up BEFORE the flight.</a:t>
            </a:r>
          </a:p>
        </p:txBody>
      </p:sp>
      <p:sp>
        <p:nvSpPr>
          <p:cNvPr id="100055" name="Hint1"/>
          <p:cNvSpPr txBox="1"/>
          <p:nvPr/>
        </p:nvSpPr>
        <p:spPr>
          <a:xfrm xmlns:a="http://schemas.openxmlformats.org/drawingml/2006/main">
            <a:off x="360000" y="1260000"/>
            <a:ext cx="3420000" cy="30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2D3748"/>
                </a:solidFill>
                <a:latin typeface="Calibri"/>
                <a:ea typeface="Calibri"/>
              </a:rPr>
              <a:t>🌻  Sunflower Lanyard</a:t>
            </a:r>
          </a:p>
          <a:p xmlns:a="http://schemas.openxmlformats.org/drawingml/2006/main">
            <a:r>
              <a:rPr lang="en-US" sz="1300" b="0">
                <a:solidFill>
                  <a:srgbClr val="2D3748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300" b="0">
                <a:solidFill>
                  <a:srgbClr val="2D3748"/>
                </a:solidFill>
                <a:latin typeface="Calibri"/>
                <a:ea typeface="Calibri"/>
              </a:rPr>
              <a:t>The Hidden Disabilities Sunflower quietly tells airport and airline staff: this traveler may need extra time, patience or help.</a:t>
            </a:r>
          </a:p>
          <a:p xmlns:a="http://schemas.openxmlformats.org/drawingml/2006/main">
            <a:r>
              <a:rPr lang="en-US" sz="1300" b="0">
                <a:solidFill>
                  <a:srgbClr val="2D3748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300" b="0">
                <a:solidFill>
                  <a:srgbClr val="2D3748"/>
                </a:solidFill>
                <a:latin typeface="Calibri"/>
                <a:ea typeface="Calibri"/>
              </a:rPr>
              <a:t>Available at most major airports.</a:t>
            </a:r>
          </a:p>
        </p:txBody>
      </p:sp>
      <p:sp>
        <p:nvSpPr>
          <p:cNvPr id="100056" name="Hint2"/>
          <p:cNvSpPr txBox="1"/>
          <p:nvPr/>
        </p:nvSpPr>
        <p:spPr>
          <a:xfrm xmlns:a="http://schemas.openxmlformats.org/drawingml/2006/main">
            <a:off x="4320000" y="1260000"/>
            <a:ext cx="3420000" cy="30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D4E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2D3748"/>
                </a:solidFill>
                <a:latin typeface="Calibri"/>
                <a:ea typeface="Calibri"/>
              </a:rPr>
              <a:t>📋  DPNA Code</a:t>
            </a:r>
          </a:p>
          <a:p xmlns:a="http://schemas.openxmlformats.org/drawingml/2006/main">
            <a:r>
              <a:rPr lang="en-US" sz="1300" b="0">
                <a:solidFill>
                  <a:srgbClr val="2D3748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300" b="0">
                <a:solidFill>
                  <a:srgbClr val="2D3748"/>
                </a:solidFill>
                <a:latin typeface="Calibri"/>
                <a:ea typeface="Calibri"/>
              </a:rPr>
              <a:t>Ask the airline to add the Disabled Passenger — No Advance Warning code to your booking.</a:t>
            </a:r>
          </a:p>
          <a:p xmlns:a="http://schemas.openxmlformats.org/drawingml/2006/main">
            <a:r>
              <a:rPr lang="en-US" sz="1300" b="0">
                <a:solidFill>
                  <a:srgbClr val="2D3748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300" b="0">
                <a:solidFill>
                  <a:srgbClr val="2D3748"/>
                </a:solidFill>
                <a:latin typeface="Calibri"/>
                <a:ea typeface="Calibri"/>
              </a:rPr>
              <a:t>This ensures staff are briefed and pre-boarding may be offered.</a:t>
            </a:r>
          </a:p>
        </p:txBody>
      </p:sp>
      <p:sp>
        <p:nvSpPr>
          <p:cNvPr id="100057" name="Hint3"/>
          <p:cNvSpPr txBox="1"/>
          <p:nvPr/>
        </p:nvSpPr>
        <p:spPr>
          <a:xfrm xmlns:a="http://schemas.openxmlformats.org/drawingml/2006/main">
            <a:off x="8280000" y="1260000"/>
            <a:ext cx="3420000" cy="30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DFC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2D3748"/>
                </a:solidFill>
                <a:latin typeface="Calibri"/>
                <a:ea typeface="Calibri"/>
              </a:rPr>
              <a:t>📞  TSA Cares</a:t>
            </a:r>
          </a:p>
          <a:p xmlns:a="http://schemas.openxmlformats.org/drawingml/2006/main">
            <a:r>
              <a:rPr lang="en-US" sz="1300" b="0">
                <a:solidFill>
                  <a:srgbClr val="2D3748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300" b="0">
                <a:solidFill>
                  <a:srgbClr val="2D3748"/>
                </a:solidFill>
                <a:latin typeface="Calibri"/>
                <a:ea typeface="Calibri"/>
              </a:rPr>
              <a:t>Call TSA Cares 72 hours before your flight.</a:t>
            </a:r>
          </a:p>
          <a:p xmlns:a="http://schemas.openxmlformats.org/drawingml/2006/main">
            <a:r>
              <a:rPr lang="en-US" sz="1300" b="0">
                <a:solidFill>
                  <a:srgbClr val="2D3748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300" b="0">
                <a:solidFill>
                  <a:srgbClr val="2D3748"/>
                </a:solidFill>
                <a:latin typeface="Calibri"/>
                <a:ea typeface="Calibri"/>
              </a:rPr>
              <a:t>A TSA officer can meet you at the checkpoint to guide your family through security — calmly and kindly.</a:t>
            </a:r>
          </a:p>
        </p:txBody>
      </p:sp>
      <p:sp>
        <p:nvSpPr>
          <p:cNvPr id="100058" name="Hint4"/>
          <p:cNvSpPr txBox="1"/>
          <p:nvPr/>
        </p:nvSpPr>
        <p:spPr>
          <a:xfrm xmlns:a="http://schemas.openxmlformats.org/drawingml/2006/main">
            <a:off x="360000" y="4608000"/>
            <a:ext cx="11520000" cy="14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2D3748"/>
                </a:solidFill>
                <a:latin typeface="Calibri"/>
                <a:ea typeface="Calibri"/>
              </a:rPr>
              <a:t>⭐  More Hidden Help:</a:t>
            </a:r>
          </a:p>
          <a:p xmlns:a="http://schemas.openxmlformats.org/drawingml/2006/main">
            <a:r>
              <a:rPr lang="en-US" sz="1300" b="0">
                <a:solidFill>
                  <a:srgbClr val="2D3748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300" b="0">
                <a:solidFill>
                  <a:srgbClr val="2D3748"/>
                </a:solidFill>
                <a:latin typeface="Calibri"/>
                <a:ea typeface="Calibri"/>
              </a:rPr>
              <a:t>✓  Wings for Autism — airport rehearsal days for families</a:t>
            </a:r>
          </a:p>
          <a:p xmlns:a="http://schemas.openxmlformats.org/drawingml/2006/main">
            <a:r>
              <a:rPr lang="en-US" sz="1300" b="0">
                <a:solidFill>
                  <a:srgbClr val="2D3748"/>
                </a:solidFill>
                <a:latin typeface="Calibri"/>
                <a:ea typeface="Calibri"/>
              </a:rPr>
              <a:t>✓  Airport Sensory Rooms — quiet, calm spaces airside</a:t>
            </a:r>
          </a:p>
          <a:p xmlns:a="http://schemas.openxmlformats.org/drawingml/2006/main">
            <a:r>
              <a:rPr lang="en-US" sz="1300" b="0">
                <a:solidFill>
                  <a:srgbClr val="2D3748"/>
                </a:solidFill>
                <a:latin typeface="Calibri"/>
                <a:ea typeface="Calibri"/>
              </a:rPr>
              <a:t>✓  TSA PreCheck — shorter, calmer security lanes</a:t>
            </a:r>
          </a:p>
          <a:p xmlns:a="http://schemas.openxmlformats.org/drawingml/2006/main">
            <a:r>
              <a:rPr lang="en-US" sz="1300" b="0">
                <a:solidFill>
                  <a:srgbClr val="2D3748"/>
                </a:solidFill>
                <a:latin typeface="Calibri"/>
                <a:ea typeface="Calibri"/>
              </a:rPr>
              <a:t>✓  Pre-boarding — ask the gate agent early</a:t>
            </a:r>
          </a:p>
          <a:p xmlns:a="http://schemas.openxmlformats.org/drawingml/2006/main">
            <a:r>
              <a:rPr lang="en-US" sz="1300" b="0">
                <a:solidFill>
                  <a:srgbClr val="2D3748"/>
                </a:solidFill>
                <a:latin typeface="Calibri"/>
                <a:ea typeface="Calibri"/>
              </a:rPr>
              <a:t>✓  Autism Assistance Cards — wallet card for staff</a:t>
            </a:r>
          </a:p>
        </p:txBody>
      </p:sp>
      <p:sp>
        <p:nvSpPr>
          <p:cNvPr id="100059" name="BobBadge"/>
          <p:cNvSpPr txBox="1"/>
          <p:nvPr/>
        </p:nvSpPr>
        <p:spPr>
          <a:xfrm xmlns:a="http://schemas.openxmlformats.org/drawingml/2006/main">
            <a:off x="144000" y="6336000"/>
            <a:ext cx="2880000" cy="39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FFFFFF"/>
                </a:solidFill>
                <a:latin typeface="Calibri"/>
                <a:ea typeface="Calibri"/>
              </a:rPr>
              <a:t>🤖 IBM Bobathon</a:t>
            </a:r>
          </a:p>
        </p:txBody>
      </p:sp>
    </p:spTree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BFF"/>
        </a:solidFill>
      </p:bgPr>
    </p:bg>
    <p:spTree>
      <p:nvGrpSpPr>
        <p:cNvPr id="1" name=""/>
        <p:cNvGrpSpPr/>
        <p:nvPr/>
      </p:nvGrpSpPr>
      <p:grpSpPr/>
      <p:sp>
        <p:nvSpPr>
          <p:cNvPr id="100060" name="HeaderBar"/>
          <p:cNvSpPr txBox="1"/>
          <p:nvPr/>
        </p:nvSpPr>
        <p:spPr>
          <a:xfrm xmlns:a="http://schemas.openxmlformats.org/drawingml/2006/main">
            <a:off x="0" y="0"/>
            <a:ext cx="12193200" cy="6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A4C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>
              <a:solidFill>
                <a:srgbClr val="5BA4CF"/>
              </a:solidFill>
            </a:endParaRPr>
          </a:p>
        </p:txBody>
      </p:sp>
      <p:sp>
        <p:nvSpPr>
          <p:cNvPr id="100061" name="BottomBar"/>
          <p:cNvSpPr txBox="1"/>
          <p:nvPr/>
        </p:nvSpPr>
        <p:spPr>
          <a:xfrm xmlns:a="http://schemas.openxmlformats.org/drawingml/2006/main">
            <a:off x="0" y="6300000"/>
            <a:ext cx="121932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CB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>
              <a:solidFill>
                <a:srgbClr val="2E7CB8"/>
              </a:solidFill>
            </a:endParaRPr>
          </a:p>
        </p:txBody>
      </p:sp>
      <p:sp>
        <p:nvSpPr>
          <p:cNvPr id="100062" name="SlideTitle"/>
          <p:cNvSpPr txBox="1"/>
          <p:nvPr/>
        </p:nvSpPr>
        <p:spPr>
          <a:xfrm xmlns:a="http://schemas.openxmlformats.org/drawingml/2006/main">
            <a:off x="540000" y="72000"/>
            <a:ext cx="10800000" cy="50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800" b="1">
                <a:solidFill>
                  <a:srgbClr val="FFFFFF"/>
                </a:solidFill>
                <a:latin typeface="Calibri"/>
                <a:ea typeface="Calibri"/>
              </a:rPr>
              <a:t>Pack the Calm. Ship the Rest.</a:t>
            </a:r>
          </a:p>
        </p:txBody>
      </p:sp>
      <p:sp>
        <p:nvSpPr>
          <p:cNvPr id="100063" name="GoBagHeader"/>
          <p:cNvSpPr txBox="1"/>
          <p:nvPr/>
        </p:nvSpPr>
        <p:spPr>
          <a:xfrm xmlns:a="http://schemas.openxmlformats.org/drawingml/2006/main">
            <a:off x="360000" y="828000"/>
            <a:ext cx="540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 b="1">
                <a:solidFill>
                  <a:srgbClr val="2E7CB8"/>
                </a:solidFill>
                <a:latin typeface="Calibri"/>
                <a:ea typeface="Calibri"/>
              </a:rPr>
              <a:t>🎒  The Go Bag — Carry This With You</a:t>
            </a:r>
          </a:p>
        </p:txBody>
      </p:sp>
      <p:sp>
        <p:nvSpPr>
          <p:cNvPr id="100064" name="GoBagList"/>
          <p:cNvSpPr txBox="1"/>
          <p:nvPr/>
        </p:nvSpPr>
        <p:spPr>
          <a:xfrm xmlns:a="http://schemas.openxmlformats.org/drawingml/2006/main">
            <a:off x="360000" y="1260000"/>
            <a:ext cx="5400000" cy="36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DFC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0">
                <a:solidFill>
                  <a:srgbClr val="2D3748"/>
                </a:solidFill>
                <a:latin typeface="Calibri"/>
                <a:ea typeface="Calibri"/>
              </a:rPr>
              <a:t>✓  Noise-canceling headphones</a:t>
            </a:r>
          </a:p>
          <a:p xmlns:a="http://schemas.openxmlformats.org/drawingml/2006/main">
            <a:r>
              <a:rPr lang="en-US" sz="1400" b="0">
                <a:solidFill>
                  <a:srgbClr val="2D3748"/>
                </a:solidFill>
                <a:latin typeface="Calibri"/>
                <a:ea typeface="Calibri"/>
              </a:rPr>
              <a:t>✓  Preloaded music or audiobook</a:t>
            </a:r>
          </a:p>
          <a:p xmlns:a="http://schemas.openxmlformats.org/drawingml/2006/main">
            <a:r>
              <a:rPr lang="en-US" sz="1400" b="0">
                <a:solidFill>
                  <a:srgbClr val="2D3748"/>
                </a:solidFill>
                <a:latin typeface="Calibri"/>
                <a:ea typeface="Calibri"/>
              </a:rPr>
              <a:t>✓  Fidget toys</a:t>
            </a:r>
          </a:p>
          <a:p xmlns:a="http://schemas.openxmlformats.org/drawingml/2006/main">
            <a:r>
              <a:rPr lang="en-US" sz="1400" b="0">
                <a:solidFill>
                  <a:srgbClr val="2D3748"/>
                </a:solidFill>
                <a:latin typeface="Calibri"/>
                <a:ea typeface="Calibri"/>
              </a:rPr>
              <a:t>✓  Chewelry</a:t>
            </a:r>
          </a:p>
          <a:p xmlns:a="http://schemas.openxmlformats.org/drawingml/2006/main">
            <a:r>
              <a:rPr lang="en-US" sz="1400" b="0">
                <a:solidFill>
                  <a:srgbClr val="2D3748"/>
                </a:solidFill>
                <a:latin typeface="Calibri"/>
                <a:ea typeface="Calibri"/>
              </a:rPr>
              <a:t>✓  Favorite snacks</a:t>
            </a:r>
          </a:p>
          <a:p xmlns:a="http://schemas.openxmlformats.org/drawingml/2006/main">
            <a:r>
              <a:rPr lang="en-US" sz="1400" b="0">
                <a:solidFill>
                  <a:srgbClr val="2D3748"/>
                </a:solidFill>
                <a:latin typeface="Calibri"/>
                <a:ea typeface="Calibri"/>
              </a:rPr>
              <a:t>✓  Comfort item (small blanket / stuffed animal)</a:t>
            </a:r>
          </a:p>
          <a:p xmlns:a="http://schemas.openxmlformats.org/drawingml/2006/main">
            <a:r>
              <a:rPr lang="en-US" sz="1400" b="0">
                <a:solidFill>
                  <a:srgbClr val="2D3748"/>
                </a:solidFill>
                <a:latin typeface="Calibri"/>
                <a:ea typeface="Calibri"/>
              </a:rPr>
              <a:t>✓  Printed social story</a:t>
            </a:r>
          </a:p>
          <a:p xmlns:a="http://schemas.openxmlformats.org/drawingml/2006/main">
            <a:r>
              <a:rPr lang="en-US" sz="1400" b="0">
                <a:solidFill>
                  <a:srgbClr val="2D3748"/>
                </a:solidFill>
                <a:latin typeface="Calibri"/>
                <a:ea typeface="Calibri"/>
              </a:rPr>
              <a:t>✓  Autism assistance card</a:t>
            </a:r>
          </a:p>
          <a:p xmlns:a="http://schemas.openxmlformats.org/drawingml/2006/main">
            <a:r>
              <a:rPr lang="en-US" sz="1400" b="0">
                <a:solidFill>
                  <a:srgbClr val="2D3748"/>
                </a:solidFill>
                <a:latin typeface="Calibri"/>
                <a:ea typeface="Calibri"/>
              </a:rPr>
              <a:t>✓  Reusable water bottle</a:t>
            </a:r>
          </a:p>
        </p:txBody>
      </p:sp>
      <p:sp>
        <p:nvSpPr>
          <p:cNvPr id="100065" name="ShipHeader"/>
          <p:cNvSpPr txBox="1"/>
          <p:nvPr/>
        </p:nvSpPr>
        <p:spPr>
          <a:xfrm xmlns:a="http://schemas.openxmlformats.org/drawingml/2006/main">
            <a:off x="6300000" y="828000"/>
            <a:ext cx="540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 b="1">
                <a:solidFill>
                  <a:srgbClr val="2E7CB8"/>
                </a:solidFill>
                <a:latin typeface="Calibri"/>
                <a:ea typeface="Calibri"/>
              </a:rPr>
              <a:t>📦  Ship Ahead — Let the Familiar Arrive First</a:t>
            </a:r>
          </a:p>
        </p:txBody>
      </p:sp>
      <p:sp>
        <p:nvSpPr>
          <p:cNvPr id="100066" name="ShipList"/>
          <p:cNvSpPr txBox="1"/>
          <p:nvPr/>
        </p:nvSpPr>
        <p:spPr>
          <a:xfrm xmlns:a="http://schemas.openxmlformats.org/drawingml/2006/main">
            <a:off x="6300000" y="1260000"/>
            <a:ext cx="5400000" cy="36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D4E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0">
                <a:solidFill>
                  <a:srgbClr val="2D3748"/>
                </a:solidFill>
                <a:latin typeface="Calibri"/>
                <a:ea typeface="Calibri"/>
              </a:rPr>
              <a:t>Consider shipping to the hotel or relative's home before you travel:</a:t>
            </a:r>
          </a:p>
          <a:p xmlns:a="http://schemas.openxmlformats.org/drawingml/2006/main">
            <a:r>
              <a:rPr lang="en-US" sz="1400" b="0">
                <a:solidFill>
                  <a:srgbClr val="2D3748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400" b="0">
                <a:solidFill>
                  <a:srgbClr val="2D3748"/>
                </a:solidFill>
                <a:latin typeface="Calibri"/>
                <a:ea typeface="Calibri"/>
              </a:rPr>
              <a:t>✓  Favorite foods and snacks</a:t>
            </a:r>
          </a:p>
          <a:p xmlns:a="http://schemas.openxmlformats.org/drawingml/2006/main">
            <a:r>
              <a:rPr lang="en-US" sz="1400" b="0">
                <a:solidFill>
                  <a:srgbClr val="2D3748"/>
                </a:solidFill>
                <a:latin typeface="Calibri"/>
                <a:ea typeface="Calibri"/>
              </a:rPr>
              <a:t>✓  Familiar bath products (same shampoo smell = calm)</a:t>
            </a:r>
          </a:p>
          <a:p xmlns:a="http://schemas.openxmlformats.org/drawingml/2006/main">
            <a:r>
              <a:rPr lang="en-US" sz="1400" b="0">
                <a:solidFill>
                  <a:srgbClr val="2D3748"/>
                </a:solidFill>
                <a:latin typeface="Calibri"/>
                <a:ea typeface="Calibri"/>
              </a:rPr>
              <a:t>✓  Preferred pillow or blanket</a:t>
            </a:r>
          </a:p>
          <a:p xmlns:a="http://schemas.openxmlformats.org/drawingml/2006/main">
            <a:r>
              <a:rPr lang="en-US" sz="1400" b="0">
                <a:solidFill>
                  <a:srgbClr val="2D3748"/>
                </a:solidFill>
                <a:latin typeface="Calibri"/>
                <a:ea typeface="Calibri"/>
              </a:rPr>
              <a:t>✓  Extra comfort items</a:t>
            </a:r>
          </a:p>
          <a:p xmlns:a="http://schemas.openxmlformats.org/drawingml/2006/main">
            <a:r>
              <a:rPr lang="en-US" sz="1400" b="0">
                <a:solidFill>
                  <a:srgbClr val="2D3748"/>
                </a:solidFill>
                <a:latin typeface="Calibri"/>
                <a:ea typeface="Calibri"/>
              </a:rPr>
              <a:t>✓  Activity supplies</a:t>
            </a:r>
          </a:p>
          <a:p xmlns:a="http://schemas.openxmlformats.org/drawingml/2006/main">
            <a:r>
              <a:rPr lang="en-US" sz="1400" b="0">
                <a:solidFill>
                  <a:srgbClr val="2D3748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400" b="0">
                <a:solidFill>
                  <a:srgbClr val="2D3748"/>
                </a:solidFill>
                <a:latin typeface="Calibri"/>
                <a:ea typeface="Calibri"/>
              </a:rPr>
              <a:t>💡  When familiar things are already there, the new place feels like home faster.</a:t>
            </a:r>
          </a:p>
        </p:txBody>
      </p:sp>
      <p:sp>
        <p:nvSpPr>
          <p:cNvPr id="100067" name="Tip"/>
          <p:cNvSpPr txBox="1"/>
          <p:nvPr/>
        </p:nvSpPr>
        <p:spPr>
          <a:xfrm xmlns:a="http://schemas.openxmlformats.org/drawingml/2006/main">
            <a:off x="360000" y="5148000"/>
            <a:ext cx="11520000" cy="7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0">
                <a:solidFill>
                  <a:srgbClr val="2D3748"/>
                </a:solidFill>
                <a:latin typeface="Calibri"/>
                <a:ea typeface="Calibri"/>
              </a:rPr>
              <a:t>💡  Tip: Amazon ships to hotels. Ship 2 days before you fly. Familiar things waiting = a calmer arrival.</a:t>
            </a:r>
          </a:p>
        </p:txBody>
      </p:sp>
      <p:sp>
        <p:nvSpPr>
          <p:cNvPr id="100068" name="BobBadge"/>
          <p:cNvSpPr txBox="1"/>
          <p:nvPr/>
        </p:nvSpPr>
        <p:spPr>
          <a:xfrm xmlns:a="http://schemas.openxmlformats.org/drawingml/2006/main">
            <a:off x="144000" y="6336000"/>
            <a:ext cx="2880000" cy="39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FFFFFF"/>
                </a:solidFill>
                <a:latin typeface="Calibri"/>
                <a:ea typeface="Calibri"/>
              </a:rPr>
              <a:t>🤖 IBM Bobathon</a:t>
            </a:r>
          </a:p>
        </p:txBody>
      </p:sp>
    </p:spTree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BFF"/>
        </a:solidFill>
      </p:bgPr>
    </p:bg>
    <p:spTree>
      <p:nvGrpSpPr>
        <p:cNvPr id="1" name=""/>
        <p:cNvGrpSpPr/>
        <p:nvPr/>
      </p:nvGrpSpPr>
      <p:grpSpPr/>
      <p:sp>
        <p:nvSpPr>
          <p:cNvPr id="100069" name="HeaderBar"/>
          <p:cNvSpPr txBox="1"/>
          <p:nvPr/>
        </p:nvSpPr>
        <p:spPr>
          <a:xfrm xmlns:a="http://schemas.openxmlformats.org/drawingml/2006/main">
            <a:off x="0" y="0"/>
            <a:ext cx="12193200" cy="6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A4C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>
              <a:solidFill>
                <a:srgbClr val="5BA4CF"/>
              </a:solidFill>
            </a:endParaRPr>
          </a:p>
        </p:txBody>
      </p:sp>
      <p:sp>
        <p:nvSpPr>
          <p:cNvPr id="100070" name="BottomBar"/>
          <p:cNvSpPr txBox="1"/>
          <p:nvPr/>
        </p:nvSpPr>
        <p:spPr>
          <a:xfrm xmlns:a="http://schemas.openxmlformats.org/drawingml/2006/main">
            <a:off x="0" y="6300000"/>
            <a:ext cx="121932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CB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>
              <a:solidFill>
                <a:srgbClr val="2E7CB8"/>
              </a:solidFill>
            </a:endParaRPr>
          </a:p>
        </p:txBody>
      </p:sp>
      <p:sp>
        <p:nvSpPr>
          <p:cNvPr id="100071" name="SlideTitle"/>
          <p:cNvSpPr txBox="1"/>
          <p:nvPr/>
        </p:nvSpPr>
        <p:spPr>
          <a:xfrm xmlns:a="http://schemas.openxmlformats.org/drawingml/2006/main">
            <a:off x="540000" y="72000"/>
            <a:ext cx="10800000" cy="50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800" b="1">
                <a:solidFill>
                  <a:srgbClr val="FFFFFF"/>
                </a:solidFill>
                <a:latin typeface="Calibri"/>
                <a:ea typeface="Calibri"/>
              </a:rPr>
              <a:t>Staying Calm — Before, During and After</a:t>
            </a:r>
          </a:p>
        </p:txBody>
      </p:sp>
      <p:sp>
        <p:nvSpPr>
          <p:cNvPr id="100072" name="Intro"/>
          <p:cNvSpPr txBox="1"/>
          <p:nvPr/>
        </p:nvSpPr>
        <p:spPr>
          <a:xfrm xmlns:a="http://schemas.openxmlformats.org/drawingml/2006/main">
            <a:off x="720000" y="792000"/>
            <a:ext cx="10800000" cy="3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0">
                <a:solidFill>
                  <a:srgbClr val="718096"/>
                </a:solidFill>
                <a:latin typeface="Calibri"/>
                <a:ea typeface="Calibri"/>
              </a:rPr>
              <a:t>Travel breaks routines. These strategies help protect the calm — for child and parent alike.</a:t>
            </a:r>
          </a:p>
        </p:txBody>
      </p:sp>
      <p:sp>
        <p:nvSpPr>
          <p:cNvPr id="100073" name="Before"/>
          <p:cNvSpPr txBox="1"/>
          <p:nvPr/>
        </p:nvSpPr>
        <p:spPr>
          <a:xfrm xmlns:a="http://schemas.openxmlformats.org/drawingml/2006/main">
            <a:off x="360000" y="1260000"/>
            <a:ext cx="3420000" cy="39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DFC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2D3748"/>
                </a:solidFill>
                <a:latin typeface="Calibri"/>
                <a:ea typeface="Calibri"/>
              </a:rPr>
              <a:t>🌅  BEFORE</a:t>
            </a:r>
          </a:p>
          <a:p xmlns:a="http://schemas.openxmlformats.org/drawingml/2006/main">
            <a:r>
              <a:rPr lang="en-US" sz="1300" b="0">
                <a:solidFill>
                  <a:srgbClr val="2D3748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300" b="0">
                <a:solidFill>
                  <a:srgbClr val="2D3748"/>
                </a:solidFill>
                <a:latin typeface="Calibri"/>
                <a:ea typeface="Calibri"/>
              </a:rPr>
              <a:t>• Read the social story together</a:t>
            </a:r>
          </a:p>
          <a:p xmlns:a="http://schemas.openxmlformats.org/drawingml/2006/main">
            <a:r>
              <a:rPr lang="en-US" sz="1300" b="0">
                <a:solidFill>
                  <a:srgbClr val="2D3748"/>
                </a:solidFill>
                <a:latin typeface="Calibri"/>
                <a:ea typeface="Calibri"/>
              </a:rPr>
              <a:t>• Make the schedule visible</a:t>
            </a:r>
          </a:p>
          <a:p xmlns:a="http://schemas.openxmlformats.org/drawingml/2006/main">
            <a:r>
              <a:rPr lang="en-US" sz="1300" b="0">
                <a:solidFill>
                  <a:srgbClr val="2D3748"/>
                </a:solidFill>
                <a:latin typeface="Calibri"/>
                <a:ea typeface="Calibri"/>
              </a:rPr>
              <a:t>• Spot the triggers early</a:t>
            </a:r>
          </a:p>
          <a:p xmlns:a="http://schemas.openxmlformats.org/drawingml/2006/main">
            <a:r>
              <a:rPr lang="en-US" sz="1300" b="0">
                <a:solidFill>
                  <a:srgbClr val="2D3748"/>
                </a:solidFill>
                <a:latin typeface="Calibri"/>
                <a:ea typeface="Calibri"/>
              </a:rPr>
              <a:t>• Pack the go bag the night before</a:t>
            </a:r>
          </a:p>
          <a:p xmlns:a="http://schemas.openxmlformats.org/drawingml/2006/main">
            <a:r>
              <a:rPr lang="en-US" sz="1300" b="0">
                <a:solidFill>
                  <a:srgbClr val="2D3748"/>
                </a:solidFill>
                <a:latin typeface="Calibri"/>
                <a:ea typeface="Calibri"/>
              </a:rPr>
              <a:t>• Set up TSA Cares, DPNA, Sunflower Lanyard in advance</a:t>
            </a:r>
          </a:p>
          <a:p xmlns:a="http://schemas.openxmlformats.org/drawingml/2006/main">
            <a:r>
              <a:rPr lang="en-US" sz="1300" b="0">
                <a:solidFill>
                  <a:srgbClr val="2D3748"/>
                </a:solidFill>
                <a:latin typeface="Calibri"/>
                <a:ea typeface="Calibri"/>
              </a:rPr>
              <a:t>• Build in extra time — always</a:t>
            </a:r>
          </a:p>
          <a:p xmlns:a="http://schemas.openxmlformats.org/drawingml/2006/main">
            <a:r>
              <a:rPr lang="en-US" sz="1300" b="0">
                <a:solidFill>
                  <a:srgbClr val="2D3748"/>
                </a:solidFill>
                <a:latin typeface="Calibri"/>
                <a:ea typeface="Calibri"/>
              </a:rPr>
              <a:t>• Plan for delays with a 'what if' card</a:t>
            </a:r>
          </a:p>
        </p:txBody>
      </p:sp>
      <p:sp>
        <p:nvSpPr>
          <p:cNvPr id="100074" name="During"/>
          <p:cNvSpPr txBox="1"/>
          <p:nvPr/>
        </p:nvSpPr>
        <p:spPr>
          <a:xfrm xmlns:a="http://schemas.openxmlformats.org/drawingml/2006/main">
            <a:off x="4320000" y="1260000"/>
            <a:ext cx="3420000" cy="39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D4E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2D3748"/>
                </a:solidFill>
                <a:latin typeface="Calibri"/>
                <a:ea typeface="Calibri"/>
              </a:rPr>
              <a:t>✈️  DURING</a:t>
            </a:r>
          </a:p>
          <a:p xmlns:a="http://schemas.openxmlformats.org/drawingml/2006/main">
            <a:r>
              <a:rPr lang="en-US" sz="1300" b="0">
                <a:solidFill>
                  <a:srgbClr val="2D3748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300" b="0">
                <a:solidFill>
                  <a:srgbClr val="2D3748"/>
                </a:solidFill>
                <a:latin typeface="Calibri"/>
                <a:ea typeface="Calibri"/>
              </a:rPr>
              <a:t>• Headphones on early</a:t>
            </a:r>
          </a:p>
          <a:p xmlns:a="http://schemas.openxmlformats.org/drawingml/2006/main">
            <a:r>
              <a:rPr lang="en-US" sz="1300" b="0">
                <a:solidFill>
                  <a:srgbClr val="2D3748"/>
                </a:solidFill>
                <a:latin typeface="Calibri"/>
                <a:ea typeface="Calibri"/>
              </a:rPr>
              <a:t>• Fidgets in hand</a:t>
            </a:r>
          </a:p>
          <a:p xmlns:a="http://schemas.openxmlformats.org/drawingml/2006/main">
            <a:r>
              <a:rPr lang="en-US" sz="1300" b="0">
                <a:solidFill>
                  <a:srgbClr val="2D3748"/>
                </a:solidFill>
                <a:latin typeface="Calibri"/>
                <a:ea typeface="Calibri"/>
              </a:rPr>
              <a:t>• Keep the child safe first</a:t>
            </a:r>
          </a:p>
          <a:p xmlns:a="http://schemas.openxmlformats.org/drawingml/2006/main">
            <a:r>
              <a:rPr lang="en-US" sz="1300" b="0">
                <a:solidFill>
                  <a:srgbClr val="2D3748"/>
                </a:solidFill>
                <a:latin typeface="Calibri"/>
                <a:ea typeface="Calibri"/>
              </a:rPr>
              <a:t>• Reduce noise and light</a:t>
            </a:r>
          </a:p>
          <a:p xmlns:a="http://schemas.openxmlformats.org/drawingml/2006/main">
            <a:r>
              <a:rPr lang="en-US" sz="1300" b="0">
                <a:solidFill>
                  <a:srgbClr val="2D3748"/>
                </a:solidFill>
                <a:latin typeface="Calibri"/>
                <a:ea typeface="Calibri"/>
              </a:rPr>
              <a:t>• Use fewer words — calm voice</a:t>
            </a:r>
          </a:p>
          <a:p xmlns:a="http://schemas.openxmlformats.org/drawingml/2006/main">
            <a:r>
              <a:rPr lang="en-US" sz="1300" b="0">
                <a:solidFill>
                  <a:srgbClr val="2D3748"/>
                </a:solidFill>
                <a:latin typeface="Calibri"/>
                <a:ea typeface="Calibri"/>
              </a:rPr>
              <a:t>• Find the quiet spot</a:t>
            </a:r>
          </a:p>
          <a:p xmlns:a="http://schemas.openxmlformats.org/drawingml/2006/main">
            <a:r>
              <a:rPr lang="en-US" sz="1300" b="0">
                <a:solidFill>
                  <a:srgbClr val="2D3748"/>
                </a:solidFill>
                <a:latin typeface="Calibri"/>
                <a:ea typeface="Calibri"/>
              </a:rPr>
              <a:t>• Deep breaths together</a:t>
            </a:r>
          </a:p>
          <a:p xmlns:a="http://schemas.openxmlformats.org/drawingml/2006/main">
            <a:r>
              <a:rPr lang="en-US" sz="1300" b="0">
                <a:solidFill>
                  <a:srgbClr val="2D3748"/>
                </a:solidFill>
                <a:latin typeface="Calibri"/>
                <a:ea typeface="Calibri"/>
              </a:rPr>
              <a:t>• 'We are safe. We are almost there.'</a:t>
            </a:r>
          </a:p>
        </p:txBody>
      </p:sp>
      <p:sp>
        <p:nvSpPr>
          <p:cNvPr id="100075" name="After"/>
          <p:cNvSpPr txBox="1"/>
          <p:nvPr/>
        </p:nvSpPr>
        <p:spPr>
          <a:xfrm xmlns:a="http://schemas.openxmlformats.org/drawingml/2006/main">
            <a:off x="8280000" y="1260000"/>
            <a:ext cx="3420000" cy="39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DFC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2D3748"/>
                </a:solidFill>
                <a:latin typeface="Calibri"/>
                <a:ea typeface="Calibri"/>
              </a:rPr>
              <a:t>🌿  AFTER</a:t>
            </a:r>
          </a:p>
          <a:p xmlns:a="http://schemas.openxmlformats.org/drawingml/2006/main">
            <a:r>
              <a:rPr lang="en-US" sz="1300" b="0">
                <a:solidFill>
                  <a:srgbClr val="2D3748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300" b="0">
                <a:solidFill>
                  <a:srgbClr val="2D3748"/>
                </a:solidFill>
                <a:latin typeface="Calibri"/>
                <a:ea typeface="Calibri"/>
              </a:rPr>
              <a:t>• Comfort item immediately</a:t>
            </a:r>
          </a:p>
          <a:p xmlns:a="http://schemas.openxmlformats.org/drawingml/2006/main">
            <a:r>
              <a:rPr lang="en-US" sz="1300" b="0">
                <a:solidFill>
                  <a:srgbClr val="2D3748"/>
                </a:solidFill>
                <a:latin typeface="Calibri"/>
                <a:ea typeface="Calibri"/>
              </a:rPr>
              <a:t>• Water (reusable bottle)</a:t>
            </a:r>
          </a:p>
          <a:p xmlns:a="http://schemas.openxmlformats.org/drawingml/2006/main">
            <a:r>
              <a:rPr lang="en-US" sz="1300" b="0">
                <a:solidFill>
                  <a:srgbClr val="2D3748"/>
                </a:solidFill>
                <a:latin typeface="Calibri"/>
                <a:ea typeface="Calibri"/>
              </a:rPr>
              <a:t>• No blame. No shame. Ever.</a:t>
            </a:r>
          </a:p>
          <a:p xmlns:a="http://schemas.openxmlformats.org/drawingml/2006/main">
            <a:r>
              <a:rPr lang="en-US" sz="1300" b="0">
                <a:solidFill>
                  <a:srgbClr val="2D3748"/>
                </a:solidFill>
                <a:latin typeface="Calibri"/>
                <a:ea typeface="Calibri"/>
              </a:rPr>
              <a:t>• Rest first — celebrate later</a:t>
            </a:r>
          </a:p>
          <a:p xmlns:a="http://schemas.openxmlformats.org/drawingml/2006/main">
            <a:r>
              <a:rPr lang="en-US" sz="1300" b="0">
                <a:solidFill>
                  <a:srgbClr val="2D3748"/>
                </a:solidFill>
                <a:latin typeface="Calibri"/>
                <a:ea typeface="Calibri"/>
              </a:rPr>
              <a:t>• Note the trigger for next time</a:t>
            </a:r>
          </a:p>
          <a:p xmlns:a="http://schemas.openxmlformats.org/drawingml/2006/main">
            <a:r>
              <a:rPr lang="en-US" sz="1300" b="0">
                <a:solidFill>
                  <a:srgbClr val="2D3748"/>
                </a:solidFill>
                <a:latin typeface="Calibri"/>
                <a:ea typeface="Calibri"/>
              </a:rPr>
              <a:t>• Record what worked in the Trip Review</a:t>
            </a:r>
          </a:p>
          <a:p xmlns:a="http://schemas.openxmlformats.org/drawingml/2006/main">
            <a:r>
              <a:rPr lang="en-US" sz="1300" b="0">
                <a:solidFill>
                  <a:srgbClr val="2D3748"/>
                </a:solidFill>
                <a:latin typeface="Calibri"/>
                <a:ea typeface="Calibri"/>
              </a:rPr>
              <a:t>• Next trip starts smarter than this one</a:t>
            </a:r>
          </a:p>
        </p:txBody>
      </p:sp>
      <p:sp>
        <p:nvSpPr>
          <p:cNvPr id="100076" name="BobBadge"/>
          <p:cNvSpPr txBox="1"/>
          <p:nvPr/>
        </p:nvSpPr>
        <p:spPr>
          <a:xfrm xmlns:a="http://schemas.openxmlformats.org/drawingml/2006/main">
            <a:off x="144000" y="6336000"/>
            <a:ext cx="2880000" cy="39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FFFFFF"/>
                </a:solidFill>
                <a:latin typeface="Calibri"/>
                <a:ea typeface="Calibri"/>
              </a:rPr>
              <a:t>🤖 IBM Bobathon</a:t>
            </a:r>
          </a:p>
        </p:txBody>
      </p:sp>
    </p:spTree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BFF"/>
        </a:solidFill>
      </p:bgPr>
    </p:bg>
    <p:spTree>
      <p:nvGrpSpPr>
        <p:cNvPr id="1" name=""/>
        <p:cNvGrpSpPr/>
        <p:nvPr/>
      </p:nvGrpSpPr>
      <p:grpSpPr/>
      <p:sp>
        <p:nvSpPr>
          <p:cNvPr id="100077" name="SkyBar"/>
          <p:cNvSpPr txBox="1"/>
          <p:nvPr/>
        </p:nvSpPr>
        <p:spPr>
          <a:xfrm xmlns:a="http://schemas.openxmlformats.org/drawingml/2006/main">
            <a:off x="0" y="0"/>
            <a:ext cx="12193200" cy="14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A4C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>
              <a:solidFill>
                <a:srgbClr val="5BA4CF"/>
              </a:solidFill>
            </a:endParaRPr>
          </a:p>
        </p:txBody>
      </p:sp>
      <p:sp>
        <p:nvSpPr>
          <p:cNvPr id="100078" name="BottomBar"/>
          <p:cNvSpPr txBox="1"/>
          <p:nvPr/>
        </p:nvSpPr>
        <p:spPr>
          <a:xfrm xmlns:a="http://schemas.openxmlformats.org/drawingml/2006/main">
            <a:off x="0" y="6300000"/>
            <a:ext cx="121932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CB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>
              <a:solidFill>
                <a:srgbClr val="2E7CB8"/>
              </a:solidFill>
            </a:endParaRPr>
          </a:p>
        </p:txBody>
      </p:sp>
      <p:sp>
        <p:nvSpPr>
          <p:cNvPr id="100079" name="ThankYou"/>
          <p:cNvSpPr txBox="1"/>
          <p:nvPr/>
        </p:nvSpPr>
        <p:spPr>
          <a:xfrm xmlns:a="http://schemas.openxmlformats.org/drawingml/2006/main">
            <a:off x="540000" y="180000"/>
            <a:ext cx="10800000" cy="9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800" b="1">
                <a:solidFill>
                  <a:srgbClr val="FFFFFF"/>
                </a:solidFill>
                <a:latin typeface="Calibri"/>
                <a:ea typeface="Calibri"/>
              </a:rPr>
              <a:t>Thank You</a:t>
            </a:r>
          </a:p>
        </p:txBody>
      </p:sp>
      <p:sp>
        <p:nvSpPr>
          <p:cNvPr id="100080" name="Heart"/>
          <p:cNvSpPr txBox="1"/>
          <p:nvPr/>
        </p:nvSpPr>
        <p:spPr>
          <a:xfrm xmlns:a="http://schemas.openxmlformats.org/drawingml/2006/main">
            <a:off x="4320000" y="1620000"/>
            <a:ext cx="3600000" cy="36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0" b="0">
                <a:solidFill>
                  <a:srgbClr val="F28B82"/>
                </a:solidFill>
                <a:latin typeface="Segoe UI Emoji"/>
                <a:ea typeface="Segoe UI Emoji"/>
              </a:rPr>
              <a:t>❤</a:t>
            </a:r>
          </a:p>
        </p:txBody>
      </p:sp>
      <p:sp>
        <p:nvSpPr>
          <p:cNvPr id="100081" name="Cloud1"/>
          <p:cNvSpPr txBox="1"/>
          <p:nvPr/>
        </p:nvSpPr>
        <p:spPr>
          <a:xfrm xmlns:a="http://schemas.openxmlformats.org/drawingml/2006/main">
            <a:off x="360000" y="1800000"/>
            <a:ext cx="1800000" cy="108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800" b="0">
                <a:solidFill>
                  <a:srgbClr val="A8D4EF"/>
                </a:solidFill>
                <a:latin typeface="Segoe UI Emoji"/>
                <a:ea typeface="Segoe UI Emoji"/>
              </a:rPr>
              <a:t>☁</a:t>
            </a:r>
          </a:p>
        </p:txBody>
      </p:sp>
      <p:sp>
        <p:nvSpPr>
          <p:cNvPr id="100082" name="Cloud2"/>
          <p:cNvSpPr txBox="1"/>
          <p:nvPr/>
        </p:nvSpPr>
        <p:spPr>
          <a:xfrm xmlns:a="http://schemas.openxmlformats.org/drawingml/2006/main">
            <a:off x="9720000" y="1980000"/>
            <a:ext cx="1800000" cy="108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800" b="0">
                <a:solidFill>
                  <a:srgbClr val="A8D4EF"/>
                </a:solidFill>
                <a:latin typeface="Segoe UI Emoji"/>
                <a:ea typeface="Segoe UI Emoji"/>
              </a:rPr>
              <a:t>☁</a:t>
            </a:r>
          </a:p>
        </p:txBody>
      </p:sp>
      <p:sp>
        <p:nvSpPr>
          <p:cNvPr id="100083" name="Tagline"/>
          <p:cNvSpPr txBox="1"/>
          <p:nvPr/>
        </p:nvSpPr>
        <p:spPr>
          <a:xfrm xmlns:a="http://schemas.openxmlformats.org/drawingml/2006/main">
            <a:off x="1080000" y="5040000"/>
            <a:ext cx="10080000" cy="54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800" b="1">
                <a:solidFill>
                  <a:srgbClr val="2E7CB8"/>
                </a:solidFill>
                <a:latin typeface="Calibri"/>
                <a:ea typeface="Calibri"/>
              </a:rPr>
              <a:t>Safe Travels, Calm Skies.</a:t>
            </a:r>
          </a:p>
        </p:txBody>
      </p:sp>
      <p:sp>
        <p:nvSpPr>
          <p:cNvPr id="100084" name="URL"/>
          <p:cNvSpPr txBox="1"/>
          <p:nvPr/>
        </p:nvSpPr>
        <p:spPr>
          <a:xfrm xmlns:a="http://schemas.openxmlformats.org/drawingml/2006/main">
            <a:off x="3600000" y="5688000"/>
            <a:ext cx="504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 b="0">
                <a:solidFill>
                  <a:srgbClr val="5BA4CF"/>
                </a:solidFill>
                <a:latin typeface="Calibri"/>
                <a:ea typeface="Calibri"/>
              </a:rPr>
              <a:t>calmskiestravel.com</a:t>
            </a:r>
          </a:p>
        </p:txBody>
      </p:sp>
      <p:sp>
        <p:nvSpPr>
          <p:cNvPr id="100085" name="BobBadge"/>
          <p:cNvSpPr txBox="1"/>
          <p:nvPr/>
        </p:nvSpPr>
        <p:spPr>
          <a:xfrm xmlns:a="http://schemas.openxmlformats.org/drawingml/2006/main">
            <a:off x="144000" y="6336000"/>
            <a:ext cx="2880000" cy="39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FFFFFF"/>
                </a:solidFill>
                <a:latin typeface="Calibri"/>
                <a:ea typeface="Calibri"/>
              </a:rPr>
              <a:t>🤖 IBM Bobathon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OfficeCLI/1.0.144</ap:Applicat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OfficeCLI</dc:creator>
  <dcterms:created xsi:type="dcterms:W3CDTF">2026-09-27T23:20:15Z</dcterms:created>
  <cp:lastModifiedBy>OfficeCLI</cp:lastModifiedBy>
  <dcterms:modified xsi:type="dcterms:W3CDTF">2026-09-27T23:20:15Z</dcterms:modified>
</cp: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1.0.152</vt:lpwstr>
  </op:property>
  <op:property fmtid="{D5CDD505-2E9C-101B-9397-08002B2CF9AE}" pid="3" name="OfficeCLI.LastModified">
    <vt:lpwstr xmlns:vt="http://schemas.openxmlformats.org/officeDocument/2006/docPropsVTypes">2026-09-27T23:23:58Z</vt:lpwstr>
  </op:property>
</op:Properties>
</file>