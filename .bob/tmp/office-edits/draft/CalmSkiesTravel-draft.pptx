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4cf357a26f04805" /><Relationship Type="http://schemas.openxmlformats.org/package/2006/relationships/metadata/core-properties" Target="/docProps/core.xml" Id="R243896fa68b949df" /><Relationship Type="http://schemas.openxmlformats.org/officeDocument/2006/relationships/extended-properties" Target="/docProps/app.xml" Id="R84baa515617f451b" /><Relationship Type="http://schemas.openxmlformats.org/officeDocument/2006/relationships/custom-properties" Target="/docProps/custom.xml" Id="Rbe7603cf62364a4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bff9625ef8c14565"/>
  </p:notesMasterIdLst>
  <p:sldIdLst>
    <p:sldId id="256" r:id="Rd78b5f05b0e64f48"/>
    <p:sldId id="257" r:id="R601d1a745537419b"/>
    <p:sldId id="258" r:id="Rd2970d1c3cae430e"/>
    <p:sldId id="259" r:id="Rb1df118b16254ff4"/>
    <p:sldId id="260" r:id="Rc7791ba4ff95436e"/>
    <p:sldId id="261" r:id="R22e4fc0570354dc0"/>
    <p:sldId id="262" r:id="R4e95067249ef48f0"/>
    <p:sldId id="263" r:id="R6de7e1e1e9f74537"/>
    <p:sldId id="264" r:id="R1b7d32d0ca584e1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78b5f05b0e64f48" /><Relationship Type="http://schemas.openxmlformats.org/officeDocument/2006/relationships/notesMaster" Target="/ppt/notesMasters/notesMaster1.xml" Id="Rbff9625ef8c14565" /><Relationship Type="http://schemas.openxmlformats.org/officeDocument/2006/relationships/slide" Target="/ppt/slides/slide2.xml" Id="R601d1a745537419b" /><Relationship Type="http://schemas.openxmlformats.org/officeDocument/2006/relationships/slide" Target="/ppt/slides/slide3.xml" Id="Rd2970d1c3cae430e" /><Relationship Type="http://schemas.openxmlformats.org/officeDocument/2006/relationships/slide" Target="/ppt/slides/slide4.xml" Id="Rb1df118b16254ff4" /><Relationship Type="http://schemas.openxmlformats.org/officeDocument/2006/relationships/slide" Target="/ppt/slides/slide5.xml" Id="Rc7791ba4ff95436e" /><Relationship Type="http://schemas.openxmlformats.org/officeDocument/2006/relationships/slide" Target="/ppt/slides/slide6.xml" Id="R22e4fc0570354dc0" /><Relationship Type="http://schemas.openxmlformats.org/officeDocument/2006/relationships/slide" Target="/ppt/slides/slide7.xml" Id="R4e95067249ef48f0" /><Relationship Type="http://schemas.openxmlformats.org/officeDocument/2006/relationships/slide" Target="/ppt/slides/slide8.xml" Id="R6de7e1e1e9f74537" /><Relationship Type="http://schemas.openxmlformats.org/officeDocument/2006/relationships/slide" Target="/ppt/slides/slide9.xml" Id="R1b7d32d0ca584e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16f12732c4e43bd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3c8ad964443453e" /><Relationship Type="http://schemas.openxmlformats.org/officeDocument/2006/relationships/slide" Target="/ppt/slides/slide1.xml" Id="R3b4163ae708041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db6cfbaa1af4f44" /><Relationship Type="http://schemas.openxmlformats.org/officeDocument/2006/relationships/slide" Target="/ppt/slides/slide2.xml" Id="Rd13122b407e34f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32d4b26292c4073" /><Relationship Type="http://schemas.openxmlformats.org/officeDocument/2006/relationships/slide" Target="/ppt/slides/slide3.xml" Id="R04629108d1f046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4dc16fbf1c441ee" /><Relationship Type="http://schemas.openxmlformats.org/officeDocument/2006/relationships/slide" Target="/ppt/slides/slide4.xml" Id="R2b0f6cd4253a42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d2988caa06047b2" /><Relationship Type="http://schemas.openxmlformats.org/officeDocument/2006/relationships/slide" Target="/ppt/slides/slide5.xml" Id="Rfbd1553785d948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438858960094e1b" /><Relationship Type="http://schemas.openxmlformats.org/officeDocument/2006/relationships/slide" Target="/ppt/slides/slide6.xml" Id="R978cea02ca0a4b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e19583d79a14e53" /><Relationship Type="http://schemas.openxmlformats.org/officeDocument/2006/relationships/slide" Target="/ppt/slides/slide7.xml" Id="R19761f4bda9240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7e346cf801c4183" /><Relationship Type="http://schemas.openxmlformats.org/officeDocument/2006/relationships/slide" Target="/ppt/slides/slide8.xml" Id="R798247e523174b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f802b6557144135" /><Relationship Type="http://schemas.openxmlformats.org/officeDocument/2006/relationships/slide" Target="/ppt/slides/slide9.xml" Id="Ra46a646550ab44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slide. Calm Skies Travel pitch deck for the IBM Bobathon event. Tagline: Safe travels, calm skies.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2: Why I started this. LaGuardia photo on left. A.J.'s personal backstory on the right. Keep tone warm and personal.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Slide 3: One Guide, Two Voices. Light blue background. Large green title. Two white boxes — Parent left with Parent.png icon, Child right with Child.png icon. No Bob badge until final slide.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4: The Journey Step by Step. 5 steps with emoji icons and connecting arrows. Below each step is a detail card. All from the child's point of view.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5: Social Stories. Three story cards side by side. Below: how the Story Builder works. Emphasize: no login, QR code, parent editable.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6: Helpful Hints. Three primary cards: Sunflower Lanyard, DPNA Code, TSA Cares. Bottom strip: Wings for Autism, Sensory Rooms, TSA PreCheck, pre-boarding, autism cards.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7: Pack the Calm, Ship the Rest. Left column: go bag checklist (meadow green). Right column: ship ahead guide (sky blue). Bottom tip strip.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8: Staying Calm — Before, During, After. Three equal columns. Warm and supportive tone throughout. No clinical language.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9: Thank You. Large heart, calm sky colors, tagline, website URL. Simple, warm, memorable close.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9c8dbc101142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e2dfa8b5ef46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a7730e14a143c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08fa2ae9f84b4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6faea65f8447d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43c71a6a4764a06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12175c3414bdd" /><Relationship Type="http://schemas.openxmlformats.org/officeDocument/2006/relationships/notesSlide" Target="/ppt/notesSlides/notesSlide1.xml" Id="R177fef6d01e449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50607bc494fa2" /><Relationship Type="http://schemas.openxmlformats.org/officeDocument/2006/relationships/notesSlide" Target="/ppt/notesSlides/notesSlide2.xml" Id="Rcdbdc2568e4f4772" /><Relationship Type="http://schemas.openxmlformats.org/officeDocument/2006/relationships/image" Target="/ppt/media/image.png" Id="R826d542e5f0a41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a22b479254291" /><Relationship Type="http://schemas.openxmlformats.org/officeDocument/2006/relationships/notesSlide" Target="/ppt/notesSlides/notesSlide3.xml" Id="Rd42142943a1643d8" /><Relationship Type="http://schemas.openxmlformats.org/officeDocument/2006/relationships/image" Target="/ppt/media/image2.png" Id="R22f780046bc34977" /><Relationship Type="http://schemas.openxmlformats.org/officeDocument/2006/relationships/image" Target="/ppt/media/image3.png" Id="R7d9dd90ed18844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f5557ea0447d6" /><Relationship Type="http://schemas.openxmlformats.org/officeDocument/2006/relationships/notesSlide" Target="/ppt/notesSlides/notesSlide4.xml" Id="Rf2f098d61da649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d302e535247e9" /><Relationship Type="http://schemas.openxmlformats.org/officeDocument/2006/relationships/notesSlide" Target="/ppt/notesSlides/notesSlide5.xml" Id="R3bf0f8e0af364e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2b71aea0e4219" /><Relationship Type="http://schemas.openxmlformats.org/officeDocument/2006/relationships/notesSlide" Target="/ppt/notesSlides/notesSlide6.xml" Id="R6a873d10f28a4a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bed62c6c04f16" /><Relationship Type="http://schemas.openxmlformats.org/officeDocument/2006/relationships/notesSlide" Target="/ppt/notesSlides/notesSlide7.xml" Id="R8acc24ad82e04e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93f6ee3ce4b00" /><Relationship Type="http://schemas.openxmlformats.org/officeDocument/2006/relationships/notesSlide" Target="/ppt/notesSlides/notesSlide8.xml" Id="R86f89ab0e2ca46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a826b5dd14c4e" /><Relationship Type="http://schemas.openxmlformats.org/officeDocument/2006/relationships/notesSlide" Target="/ppt/notesSlides/notesSlide9.xml" Id="R7e7dc53a32cb4e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/>
      <p:sp>
        <p:nvSpPr>
          <p:cNvPr id="100000" name="SkyBar"/>
          <p:cNvSpPr txBox="1"/>
          <p:nvPr/>
        </p:nvSpPr>
        <p:spPr>
          <a:xfrm xmlns:a="http://schemas.openxmlformats.org/drawingml/2006/main">
            <a:off x="0" y="0"/>
            <a:ext cx="121932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4C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5BA4CF"/>
              </a:solidFill>
            </a:endParaRPr>
          </a:p>
        </p:txBody>
      </p:sp>
      <p:sp>
        <p:nvSpPr>
          <p:cNvPr id="100001" name="BottomBar"/>
          <p:cNvSpPr txBox="1"/>
          <p:nvPr/>
        </p:nvSpPr>
        <p:spPr>
          <a:xfrm xmlns:a="http://schemas.openxmlformats.org/drawingml/2006/main">
            <a:off x="0" y="630000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B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E7CB8"/>
              </a:solidFill>
            </a:endParaRPr>
          </a:p>
        </p:txBody>
      </p:sp>
      <p:sp>
        <p:nvSpPr>
          <p:cNvPr id="100002" name="Title"/>
          <p:cNvSpPr txBox="1"/>
          <p:nvPr/>
        </p:nvSpPr>
        <p:spPr>
          <a:xfrm xmlns:a="http://schemas.openxmlformats.org/drawingml/2006/main">
            <a:off x="540000" y="180000"/>
            <a:ext cx="108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FFFFFF"/>
                </a:solidFill>
                <a:latin typeface="Calibri"/>
                <a:ea typeface="Calibri"/>
              </a:rPr>
              <a:t>Calm Skies Travel</a:t>
            </a:r>
          </a:p>
        </p:txBody>
      </p:sp>
      <p:sp>
        <p:nvSpPr>
          <p:cNvPr id="100003" name="Tagline"/>
          <p:cNvSpPr txBox="1"/>
          <p:nvPr/>
        </p:nvSpPr>
        <p:spPr>
          <a:xfrm xmlns:a="http://schemas.openxmlformats.org/drawingml/2006/main">
            <a:off x="540000" y="1080000"/>
            <a:ext cx="108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0">
                <a:solidFill>
                  <a:srgbClr val="FFFFFF"/>
                </a:solidFill>
                <a:latin typeface="Calibri"/>
                <a:ea typeface="Calibri"/>
              </a:rPr>
              <a:t>Safe travels, calm skies.</a:t>
            </a:r>
          </a:p>
        </p:txBody>
      </p:sp>
      <p:sp>
        <p:nvSpPr>
          <p:cNvPr id="100004" name="PlaneCloud"/>
          <p:cNvSpPr txBox="1"/>
          <p:nvPr/>
        </p:nvSpPr>
        <p:spPr>
          <a:xfrm xmlns:a="http://schemas.openxmlformats.org/drawingml/2006/main">
            <a:off x="4680000" y="1800000"/>
            <a:ext cx="288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600" b="0">
                <a:solidFill>
                  <a:srgbClr val="A8D4EF"/>
                </a:solidFill>
                <a:latin typeface="Segoe UI Emoji"/>
                <a:ea typeface="Segoe UI Emoji"/>
              </a:rPr>
              <a:t>✈</a:t>
            </a:r>
          </a:p>
        </p:txBody>
      </p:sp>
      <p:sp>
        <p:nvSpPr>
          <p:cNvPr id="100005" name="Cloud1"/>
          <p:cNvSpPr txBox="1"/>
          <p:nvPr/>
        </p:nvSpPr>
        <p:spPr>
          <a:xfrm xmlns:a="http://schemas.openxmlformats.org/drawingml/2006/main">
            <a:off x="720000" y="1980000"/>
            <a:ext cx="180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0">
                <a:solidFill>
                  <a:srgbClr val="B2DFC4"/>
                </a:solidFill>
                <a:latin typeface="Segoe UI Emoji"/>
                <a:ea typeface="Segoe UI Emoji"/>
              </a:rPr>
              <a:t>☁</a:t>
            </a:r>
          </a:p>
        </p:txBody>
      </p:sp>
      <p:sp>
        <p:nvSpPr>
          <p:cNvPr id="100006" name="Cloud2"/>
          <p:cNvSpPr txBox="1"/>
          <p:nvPr/>
        </p:nvSpPr>
        <p:spPr>
          <a:xfrm xmlns:a="http://schemas.openxmlformats.org/drawingml/2006/main">
            <a:off x="9360000" y="2160000"/>
            <a:ext cx="180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0">
                <a:solidFill>
                  <a:srgbClr val="B2DFC4"/>
                </a:solidFill>
                <a:latin typeface="Segoe UI Emoji"/>
                <a:ea typeface="Segoe UI Emoji"/>
              </a:rPr>
              <a:t>☁</a:t>
            </a:r>
          </a:p>
        </p:txBody>
      </p:sp>
      <p:sp>
        <p:nvSpPr>
          <p:cNvPr id="100007" name="Subtitle"/>
          <p:cNvSpPr txBox="1"/>
          <p:nvPr/>
        </p:nvSpPr>
        <p:spPr>
          <a:xfrm xmlns:a="http://schemas.openxmlformats.org/drawingml/2006/main">
            <a:off x="1080000" y="4500000"/>
            <a:ext cx="1008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2D3748"/>
                </a:solidFill>
                <a:latin typeface="Calibri"/>
                <a:ea typeface="Calibri"/>
              </a:rPr>
              <a:t>Helping autistic children travel with more joy and less fear — one calm sky at a time.</a:t>
            </a:r>
          </a:p>
        </p:txBody>
      </p:sp>
      <p:sp>
        <p:nvSpPr>
          <p:cNvPr id="100008" name="URL"/>
          <p:cNvSpPr txBox="1"/>
          <p:nvPr/>
        </p:nvSpPr>
        <p:spPr>
          <a:xfrm xmlns:a="http://schemas.openxmlformats.org/drawingml/2006/main">
            <a:off x="1080000" y="5220000"/>
            <a:ext cx="50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2E7CB8"/>
                </a:solidFill>
                <a:latin typeface="Calibri"/>
                <a:ea typeface="Calibri"/>
              </a:rPr>
              <a:t>calmskiestravel.com</a:t>
            </a:r>
          </a:p>
        </p:txBody>
      </p:sp>
      <p:sp>
        <p:nvSpPr>
          <p:cNvPr id="100009" name="BobBadge"/>
          <p:cNvSpPr txBox="1"/>
          <p:nvPr/>
        </p:nvSpPr>
        <p:spPr>
          <a:xfrm xmlns:a="http://schemas.openxmlformats.org/drawingml/2006/main">
            <a:off x="144000" y="6336000"/>
            <a:ext cx="288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🤖 IBM Bobathon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id="10008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6d542e5f0a41e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5580000" cy="6858000"/>
          </a:xfrm>
          <a:prstGeom xmlns:a="http://schemas.openxmlformats.org/drawingml/2006/main" prst="rect">
            <a:avLst/>
          </a:prstGeom>
        </p:spPr>
      </p:pic>
      <p:sp>
        <p:nvSpPr>
          <p:cNvPr id="100087" name="Title"/>
          <p:cNvSpPr txBox="1"/>
          <p:nvPr/>
        </p:nvSpPr>
        <p:spPr>
          <a:xfrm xmlns:a="http://schemas.openxmlformats.org/drawingml/2006/main">
            <a:off x="5940000" y="216000"/>
            <a:ext cx="6048000" cy="79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1A1A1A"/>
                </a:solidFill>
                <a:latin typeface="Calibri"/>
                <a:ea typeface="Calibri"/>
              </a:rPr>
              <a:t>Why I started this</a:t>
            </a:r>
          </a:p>
        </p:txBody>
      </p:sp>
      <p:sp>
        <p:nvSpPr>
          <p:cNvPr id="100088" name="StoryBlack"/>
          <p:cNvSpPr txBox="1"/>
          <p:nvPr/>
        </p:nvSpPr>
        <p:spPr>
          <a:xfrm xmlns:a="http://schemas.openxmlformats.org/drawingml/2006/main">
            <a:off x="5940000" y="1152000"/>
            <a:ext cx="6048000" cy="29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1A1A1A"/>
                </a:solidFill>
                <a:latin typeface="Calibri"/>
                <a:ea typeface="Calibri"/>
              </a:rPr>
              <a:t>My family was flying to Florida to visit my mom. My daughter, who is autistic, generally likes to travel. We always pack a go bag with her must-have items: fidgets, snacks, chewelry, noise-canceling headphones and preloaded music.</a:t>
            </a:r>
          </a:p>
          <a:p xmlns:a="http://schemas.openxmlformats.org/drawingml/2006/main">
            <a:r>
              <a:rPr lang="en-US" sz="1500" b="0">
                <a:solidFill>
                  <a:srgbClr val="1A1A1A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1A1A"/>
                </a:solidFill>
                <a:latin typeface="Calibri"/>
                <a:ea typeface="Calibri"/>
              </a:rPr>
              <a:t>But that day, LaGuardia was packed. We had left plenty of time, yet the security line was a nightmare.</a:t>
            </a:r>
          </a:p>
          <a:p xmlns:a="http://schemas.openxmlformats.org/drawingml/2006/main">
            <a:r>
              <a:rPr lang="en-US" sz="1500" b="0">
                <a:solidFill>
                  <a:srgbClr val="1A1A1A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1A1A"/>
                </a:solidFill>
                <a:latin typeface="Calibri"/>
                <a:ea typeface="Calibri"/>
              </a:rPr>
              <a:t>The staff at LaGuardia were incredibly helpful. They knew some of the signs to look for. Still, the day would have gone much better if I had known how to travel calmly through the skies.</a:t>
            </a:r>
          </a:p>
        </p:txBody>
      </p:sp>
      <p:sp>
        <p:nvSpPr>
          <p:cNvPr id="100089" name="StoryGreen1"/>
          <p:cNvSpPr txBox="1"/>
          <p:nvPr/>
        </p:nvSpPr>
        <p:spPr>
          <a:xfrm xmlns:a="http://schemas.openxmlformats.org/drawingml/2006/main">
            <a:off x="5940000" y="4212000"/>
            <a:ext cx="6048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06B3C"/>
                </a:solidFill>
                <a:latin typeface="Calibri"/>
                <a:ea typeface="Calibri"/>
              </a:rPr>
              <a:t>This website is for anyone in a similar situation.</a:t>
            </a:r>
          </a:p>
        </p:txBody>
      </p:sp>
      <p:sp>
        <p:nvSpPr>
          <p:cNvPr id="100090" name="StoryGreen2"/>
          <p:cNvSpPr txBox="1"/>
          <p:nvPr/>
        </p:nvSpPr>
        <p:spPr>
          <a:xfrm xmlns:a="http://schemas.openxmlformats.org/drawingml/2006/main">
            <a:off x="5940000" y="4680000"/>
            <a:ext cx="604800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06B3C"/>
                </a:solidFill>
                <a:latin typeface="Calibri"/>
                <a:ea typeface="Calibri"/>
              </a:rPr>
              <a:t>Safe travels, calm skies, and best wishes.</a:t>
            </a:r>
          </a:p>
          <a:p xmlns:a="http://schemas.openxmlformats.org/drawingml/2006/main">
            <a:r>
              <a:rPr lang="en-US" sz="1500" b="0">
                <a:solidFill>
                  <a:srgbClr val="006B3C"/>
                </a:solidFill>
                <a:latin typeface="Calibri"/>
                <a:ea typeface="Calibri"/>
              </a:rPr>
              <a:t>A.J. Aronoff</a:t>
            </a:r>
          </a:p>
        </p:txBody>
      </p:sp>
      <p:sp>
        <p:nvSpPr>
          <p:cNvPr id="100091" name="PhotoCredit"/>
          <p:cNvSpPr txBox="1"/>
          <p:nvPr/>
        </p:nvSpPr>
        <p:spPr>
          <a:xfrm xmlns:a="http://schemas.openxmlformats.org/drawingml/2006/main">
            <a:off x="108000" y="6444000"/>
            <a:ext cx="54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 i="1">
                <a:solidFill>
                  <a:srgbClr val="718096"/>
                </a:solidFill>
                <a:latin typeface="Calibri"/>
                <a:ea typeface="Calibri"/>
              </a:rPr>
              <a:t>LaGuardia Airport  ·  Photo: Kevin C. Downs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A8D4EF"/>
        </a:solidFill>
      </p:bgPr>
    </p:bg>
    <p:spTree>
      <p:nvGrpSpPr>
        <p:cNvPr id="1" name=""/>
        <p:cNvGrpSpPr/>
        <p:nvPr/>
      </p:nvGrpSpPr>
      <p:grpSpPr/>
      <p:sp>
        <p:nvSpPr>
          <p:cNvPr id="100092" name="Title"/>
          <p:cNvSpPr txBox="1"/>
          <p:nvPr/>
        </p:nvSpPr>
        <p:spPr>
          <a:xfrm>
            <a:off x="540000" y="252000"/>
            <a:ext cx="11160000" cy="86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4400" b="1">
                <a:solidFill>
                  <a:srgbClr val="006B3C"/>
                </a:solidFill>
                <a:latin typeface="Calibri"/>
                <a:ea typeface="Calibri"/>
              </a:rPr>
              <a:t>One Guide, Two Voices</a:t>
            </a:r>
          </a:p>
        </p:txBody>
      </p:sp>
      <p:sp>
        <p:nvSpPr>
          <p:cNvPr id="100093" name="Subtitle"/>
          <p:cNvSpPr txBox="1"/>
          <p:nvPr/>
        </p:nvSpPr>
        <p:spPr>
          <a:xfrm>
            <a:off x="720000" y="1152000"/>
            <a:ext cx="10800000" cy="432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800" b="0" i="1">
                <a:solidFill>
                  <a:srgbClr val="1A1A1A"/>
                </a:solidFill>
                <a:latin typeface="Calibri"/>
                <a:ea typeface="Calibri"/>
              </a:rPr>
              <a:t>Every step of the trip has a plan for the parent and a story for the child.</a:t>
            </a:r>
          </a:p>
        </p:txBody>
      </p:sp>
      <p:sp>
        <p:nvSpPr>
          <p:cNvPr id="100094" name="ParentBox"/>
          <p:cNvSpPr txBox="1"/>
          <p:nvPr/>
        </p:nvSpPr>
        <p:spPr>
          <a:xfrm>
            <a:off x="432000" y="1728000"/>
            <a:ext cx="5400000" cy="486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100095" name="Picture 1"/>
          <p:cNvPicPr>
            <a:picLocks noChangeAspect="1"/>
          </p:cNvPicPr>
          <p:nvPr/>
        </p:nvPicPr>
        <p:blipFill>
          <a:blip xmlns:r="http://schemas.openxmlformats.org/officeDocument/2006/relationships" r:embed="R22f780046bc34977"/>
          <a:stretch>
            <a:fillRect/>
          </a:stretch>
        </p:blipFill>
        <p:spPr>
          <a:xfrm>
            <a:off x="1872000" y="1872000"/>
            <a:ext cx="1080000" cy="1224000"/>
          </a:xfrm>
          <a:prstGeom prst="rect">
            <a:avLst/>
          </a:prstGeom>
        </p:spPr>
      </p:pic>
      <p:sp>
        <p:nvSpPr>
          <p:cNvPr id="100096" name="ParentHeader"/>
          <p:cNvSpPr txBox="1"/>
          <p:nvPr/>
        </p:nvSpPr>
        <p:spPr>
          <a:xfrm>
            <a:off x="540000" y="3204000"/>
            <a:ext cx="5184000" cy="396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2200" b="1">
                <a:solidFill>
                  <a:srgbClr val="006B3C"/>
                </a:solidFill>
                <a:latin typeface="Calibri"/>
                <a:ea typeface="Calibri"/>
              </a:rPr>
              <a:t>For the Parent</a:t>
            </a:r>
          </a:p>
        </p:txBody>
      </p:sp>
      <p:sp>
        <p:nvSpPr>
          <p:cNvPr id="100097" name="ParentText"/>
          <p:cNvSpPr txBox="1"/>
          <p:nvPr/>
        </p:nvSpPr>
        <p:spPr>
          <a:xfrm>
            <a:off x="648000" y="3672000"/>
            <a:ext cx="4968000" cy="270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700" b="0">
                <a:solidFill>
                  <a:srgbClr val="1A1A1A"/>
                </a:solidFill>
                <a:latin typeface="Calibri"/>
                <a:ea typeface="Calibri"/>
              </a:rPr>
              <a:t>Tips for each travel stage</a:t>
            </a:r>
          </a:p>
          <a:p>
            <a:pPr algn="ctr"/>
            <a:r>
              <a:rPr lang="en-US" sz="1700" b="0">
                <a:solidFill>
                  <a:srgbClr val="1A1A1A"/>
                </a:solidFill>
                <a:latin typeface="Calibri"/>
                <a:ea typeface="Calibri"/>
              </a:rPr>
              <a:t/>
            </a:r>
          </a:p>
          <a:p>
            <a:pPr algn="ctr"/>
            <a:r>
              <a:rPr lang="en-US" sz="1700" b="0">
                <a:solidFill>
                  <a:srgbClr val="1A1A1A"/>
                </a:solidFill>
                <a:latin typeface="Calibri"/>
                <a:ea typeface="Calibri"/>
              </a:rPr>
              <a:t>Step-by-step checklists</a:t>
            </a:r>
          </a:p>
          <a:p>
            <a:pPr algn="ctr"/>
            <a:r>
              <a:rPr lang="en-US" sz="1700" b="0">
                <a:solidFill>
                  <a:srgbClr val="1A1A1A"/>
                </a:solidFill>
                <a:latin typeface="Calibri"/>
                <a:ea typeface="Calibri"/>
              </a:rPr>
              <a:t/>
            </a:r>
          </a:p>
          <a:p>
            <a:pPr algn="ctr"/>
            <a:r>
              <a:rPr lang="en-US" sz="1700" b="0">
                <a:solidFill>
                  <a:srgbClr val="1A1A1A"/>
                </a:solidFill>
                <a:latin typeface="Calibri"/>
                <a:ea typeface="Calibri"/>
              </a:rPr>
              <a:t>Meltdown plan: before, during, after</a:t>
            </a:r>
          </a:p>
        </p:txBody>
      </p:sp>
      <p:sp>
        <p:nvSpPr>
          <p:cNvPr id="100098" name="ChildBox"/>
          <p:cNvSpPr txBox="1"/>
          <p:nvPr/>
        </p:nvSpPr>
        <p:spPr>
          <a:xfrm>
            <a:off x="6336000" y="1728000"/>
            <a:ext cx="5400000" cy="486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100099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7d9dd90ed1884492"/>
          <a:stretch>
            <a:fillRect/>
          </a:stretch>
        </p:blipFill>
        <p:spPr>
          <a:xfrm>
            <a:off x="7776000" y="1872000"/>
            <a:ext cx="1080000" cy="1224000"/>
          </a:xfrm>
          <a:prstGeom prst="rect">
            <a:avLst/>
          </a:prstGeom>
        </p:spPr>
      </p:pic>
      <p:sp>
        <p:nvSpPr>
          <p:cNvPr id="100100" name="ChildHeader"/>
          <p:cNvSpPr txBox="1"/>
          <p:nvPr/>
        </p:nvSpPr>
        <p:spPr>
          <a:xfrm>
            <a:off x="6444000" y="3204000"/>
            <a:ext cx="5184000" cy="396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2200" b="1">
                <a:solidFill>
                  <a:srgbClr val="006B3C"/>
                </a:solidFill>
                <a:latin typeface="Calibri"/>
                <a:ea typeface="Calibri"/>
              </a:rPr>
              <a:t>For the Child</a:t>
            </a:r>
          </a:p>
        </p:txBody>
      </p:sp>
      <p:sp>
        <p:nvSpPr>
          <p:cNvPr id="100101" name="ChildText"/>
          <p:cNvSpPr txBox="1"/>
          <p:nvPr/>
        </p:nvSpPr>
        <p:spPr>
          <a:xfrm>
            <a:off x="6552000" y="3672000"/>
            <a:ext cx="4968000" cy="270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700" b="0">
                <a:solidFill>
                  <a:srgbClr val="1A1A1A"/>
                </a:solidFill>
                <a:latin typeface="Calibri"/>
                <a:ea typeface="Calibri"/>
              </a:rPr>
              <a:t>Simple "I" stories, read together</a:t>
            </a:r>
          </a:p>
          <a:p>
            <a:pPr algn="ctr"/>
            <a:r>
              <a:rPr lang="en-US" sz="1700" b="0">
                <a:solidFill>
                  <a:srgbClr val="1A1A1A"/>
                </a:solidFill>
                <a:latin typeface="Calibri"/>
                <a:ea typeface="Calibri"/>
              </a:rPr>
              <a:t/>
            </a:r>
          </a:p>
          <a:p>
            <a:pPr algn="ctr"/>
            <a:r>
              <a:rPr lang="en-US" sz="1700" b="0">
                <a:solidFill>
                  <a:srgbClr val="1A1A1A"/>
                </a:solidFill>
                <a:latin typeface="Calibri"/>
                <a:ea typeface="Calibri"/>
              </a:rPr>
              <a:t>What helps me feel calm</a:t>
            </a:r>
          </a:p>
          <a:p>
            <a:pPr algn="ctr"/>
            <a:r>
              <a:rPr lang="en-US" sz="1700" b="0">
                <a:solidFill>
                  <a:srgbClr val="1A1A1A"/>
                </a:solidFill>
                <a:latin typeface="Calibri"/>
                <a:ea typeface="Calibri"/>
              </a:rPr>
              <a:t/>
            </a:r>
          </a:p>
          <a:p>
            <a:pPr algn="ctr"/>
            <a:r>
              <a:rPr lang="en-US" sz="1700" b="0">
                <a:solidFill>
                  <a:srgbClr val="1A1A1A"/>
                </a:solidFill>
                <a:latin typeface="Calibri"/>
                <a:ea typeface="Calibri"/>
              </a:rPr>
              <a:t>My own travel story — just for me</a:t>
            </a:r>
          </a:p>
          <a:p>
            <a:pPr algn="ctr"/>
            <a:r>
              <a:rPr lang="en-US" sz="1700" b="0">
                <a:solidFill>
                  <a:srgbClr val="1A1A1A"/>
                </a:solidFill>
                <a:latin typeface="Calibri"/>
                <a:ea typeface="Calibri"/>
              </a:rPr>
              <a:t/>
            </a:r>
          </a:p>
          <a:p>
            <a:pPr algn="ctr"/>
            <a:r>
              <a:rPr lang="en-US" sz="1700" b="0">
                <a:solidFill>
                  <a:srgbClr val="1A1A1A"/>
                </a:solidFill>
                <a:latin typeface="Calibri"/>
                <a:ea typeface="Calibri"/>
              </a:rPr>
              <a:t>Always from MY point of view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/>
      <p:sp>
        <p:nvSpPr>
          <p:cNvPr id="100024" name="HeaderBar"/>
          <p:cNvSpPr txBox="1"/>
          <p:nvPr/>
        </p:nvSpPr>
        <p:spPr>
          <a:xfrm xmlns:a="http://schemas.openxmlformats.org/drawingml/2006/main">
            <a:off x="0" y="0"/>
            <a:ext cx="121932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4C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5BA4CF"/>
              </a:solidFill>
            </a:endParaRPr>
          </a:p>
        </p:txBody>
      </p:sp>
      <p:sp>
        <p:nvSpPr>
          <p:cNvPr id="100025" name="BottomBar"/>
          <p:cNvSpPr txBox="1"/>
          <p:nvPr/>
        </p:nvSpPr>
        <p:spPr>
          <a:xfrm xmlns:a="http://schemas.openxmlformats.org/drawingml/2006/main">
            <a:off x="0" y="630000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B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E7CB8"/>
              </a:solidFill>
            </a:endParaRPr>
          </a:p>
        </p:txBody>
      </p:sp>
      <p:sp>
        <p:nvSpPr>
          <p:cNvPr id="100026" name="SlideTitle"/>
          <p:cNvSpPr txBox="1"/>
          <p:nvPr/>
        </p:nvSpPr>
        <p:spPr>
          <a:xfrm xmlns:a="http://schemas.openxmlformats.org/drawingml/2006/main">
            <a:off x="540000" y="72000"/>
            <a:ext cx="1080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The Journey — Step by Step</a:t>
            </a:r>
          </a:p>
        </p:txBody>
      </p:sp>
      <p:sp>
        <p:nvSpPr>
          <p:cNvPr id="100027" name="SubTitle"/>
          <p:cNvSpPr txBox="1"/>
          <p:nvPr/>
        </p:nvSpPr>
        <p:spPr>
          <a:xfrm xmlns:a="http://schemas.openxmlformats.org/drawingml/2006/main">
            <a:off x="720000" y="792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718096"/>
                </a:solidFill>
                <a:latin typeface="Calibri"/>
                <a:ea typeface="Calibri"/>
              </a:rPr>
              <a:t>Always from the child's point of view.</a:t>
            </a:r>
          </a:p>
        </p:txBody>
      </p:sp>
      <p:sp>
        <p:nvSpPr>
          <p:cNvPr id="100028" name="Step1"/>
          <p:cNvSpPr txBox="1"/>
          <p:nvPr/>
        </p:nvSpPr>
        <p:spPr>
          <a:xfrm xmlns:a="http://schemas.openxmlformats.org/drawingml/2006/main">
            <a:off x="360000" y="1152000"/>
            <a:ext cx="19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DF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🏠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I get ready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at home</a:t>
            </a:r>
          </a:p>
        </p:txBody>
      </p:sp>
      <p:sp>
        <p:nvSpPr>
          <p:cNvPr id="100029" name="Arrow1"/>
          <p:cNvSpPr txBox="1"/>
          <p:nvPr/>
        </p:nvSpPr>
        <p:spPr>
          <a:xfrm xmlns:a="http://schemas.openxmlformats.org/drawingml/2006/main">
            <a:off x="2448000" y="1620000"/>
            <a:ext cx="54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5BA4CF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00030" name="Step2"/>
          <p:cNvSpPr txBox="1"/>
          <p:nvPr/>
        </p:nvSpPr>
        <p:spPr>
          <a:xfrm xmlns:a="http://schemas.openxmlformats.org/drawingml/2006/main">
            <a:off x="3060000" y="1152000"/>
            <a:ext cx="19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✈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I go to the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airport</a:t>
            </a:r>
          </a:p>
        </p:txBody>
      </p:sp>
      <p:sp>
        <p:nvSpPr>
          <p:cNvPr id="100031" name="Arrow2"/>
          <p:cNvSpPr txBox="1"/>
          <p:nvPr/>
        </p:nvSpPr>
        <p:spPr>
          <a:xfrm xmlns:a="http://schemas.openxmlformats.org/drawingml/2006/main">
            <a:off x="5148000" y="1620000"/>
            <a:ext cx="54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5BA4CF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00032" name="Step3"/>
          <p:cNvSpPr txBox="1"/>
          <p:nvPr/>
        </p:nvSpPr>
        <p:spPr>
          <a:xfrm xmlns:a="http://schemas.openxmlformats.org/drawingml/2006/main">
            <a:off x="5760000" y="1152000"/>
            <a:ext cx="19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🛫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I get on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my plane</a:t>
            </a:r>
          </a:p>
        </p:txBody>
      </p:sp>
      <p:sp>
        <p:nvSpPr>
          <p:cNvPr id="100033" name="Arrow3"/>
          <p:cNvSpPr txBox="1"/>
          <p:nvPr/>
        </p:nvSpPr>
        <p:spPr>
          <a:xfrm xmlns:a="http://schemas.openxmlformats.org/drawingml/2006/main">
            <a:off x="7848000" y="1620000"/>
            <a:ext cx="54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5BA4CF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00034" name="Step4"/>
          <p:cNvSpPr txBox="1"/>
          <p:nvPr/>
        </p:nvSpPr>
        <p:spPr>
          <a:xfrm xmlns:a="http://schemas.openxmlformats.org/drawingml/2006/main">
            <a:off x="8460000" y="1152000"/>
            <a:ext cx="19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DF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🌟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I arrive and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see my family</a:t>
            </a:r>
          </a:p>
        </p:txBody>
      </p:sp>
      <p:sp>
        <p:nvSpPr>
          <p:cNvPr id="100035" name="Arrow4"/>
          <p:cNvSpPr txBox="1"/>
          <p:nvPr/>
        </p:nvSpPr>
        <p:spPr>
          <a:xfrm xmlns:a="http://schemas.openxmlformats.org/drawingml/2006/main">
            <a:off x="10548000" y="1620000"/>
            <a:ext cx="54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5BA4CF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00036" name="Step5"/>
          <p:cNvSpPr txBox="1"/>
          <p:nvPr/>
        </p:nvSpPr>
        <p:spPr>
          <a:xfrm xmlns:a="http://schemas.openxmlformats.org/drawingml/2006/main">
            <a:off x="11160000" y="1152000"/>
            <a:ext cx="90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DF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2D3748"/>
                </a:solidFill>
                <a:latin typeface="Calibri"/>
                <a:ea typeface="Calibri"/>
              </a:rPr>
              <a:t>🏡</a:t>
            </a:r>
          </a:p>
          <a:p xmlns:a="http://schemas.openxmlformats.org/drawingml/2006/main">
            <a:r>
              <a:rPr lang="en-US" sz="1100" b="0">
                <a:solidFill>
                  <a:srgbClr val="2D3748"/>
                </a:solidFill>
                <a:latin typeface="Calibri"/>
                <a:ea typeface="Calibri"/>
              </a:rPr>
              <a:t>I go home</a:t>
            </a:r>
          </a:p>
          <a:p xmlns:a="http://schemas.openxmlformats.org/drawingml/2006/main">
            <a:r>
              <a:rPr lang="en-US" sz="1100" b="0">
                <a:solidFill>
                  <a:srgbClr val="2D3748"/>
                </a:solidFill>
                <a:latin typeface="Calibri"/>
                <a:ea typeface="Calibri"/>
              </a:rPr>
              <a:t>again</a:t>
            </a:r>
          </a:p>
        </p:txBody>
      </p:sp>
      <p:sp>
        <p:nvSpPr>
          <p:cNvPr id="100037" name="Detail1"/>
          <p:cNvSpPr txBox="1"/>
          <p:nvPr/>
        </p:nvSpPr>
        <p:spPr>
          <a:xfrm xmlns:a="http://schemas.openxmlformats.org/drawingml/2006/main">
            <a:off x="360000" y="3240000"/>
            <a:ext cx="19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Pack the Calm 🎒</a:t>
            </a:r>
          </a:p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Go bag ready</a:t>
            </a:r>
          </a:p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Social story read</a:t>
            </a:r>
          </a:p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Schedule visible</a:t>
            </a:r>
          </a:p>
        </p:txBody>
      </p:sp>
      <p:sp>
        <p:nvSpPr>
          <p:cNvPr id="100038" name="Detail2"/>
          <p:cNvSpPr txBox="1"/>
          <p:nvPr/>
        </p:nvSpPr>
        <p:spPr>
          <a:xfrm xmlns:a="http://schemas.openxmlformats.org/drawingml/2006/main">
            <a:off x="3060000" y="3240000"/>
            <a:ext cx="19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Airport Time 🛂</a:t>
            </a:r>
          </a:p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TSA Cares</a:t>
            </a:r>
          </a:p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Sunflower Lanyard</a:t>
            </a:r>
          </a:p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Pre-boarding</a:t>
            </a:r>
          </a:p>
        </p:txBody>
      </p:sp>
      <p:sp>
        <p:nvSpPr>
          <p:cNvPr id="100039" name="Detail3"/>
          <p:cNvSpPr txBox="1"/>
          <p:nvPr/>
        </p:nvSpPr>
        <p:spPr>
          <a:xfrm xmlns:a="http://schemas.openxmlformats.org/drawingml/2006/main">
            <a:off x="5760000" y="3240000"/>
            <a:ext cx="19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On the Plane 🎧</a:t>
            </a:r>
          </a:p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Headphones on</a:t>
            </a:r>
          </a:p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Fidgets ready</a:t>
            </a:r>
          </a:p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My calm playlist</a:t>
            </a:r>
          </a:p>
        </p:txBody>
      </p:sp>
      <p:sp>
        <p:nvSpPr>
          <p:cNvPr id="100040" name="Detail4"/>
          <p:cNvSpPr txBox="1"/>
          <p:nvPr/>
        </p:nvSpPr>
        <p:spPr>
          <a:xfrm xmlns:a="http://schemas.openxmlformats.org/drawingml/2006/main">
            <a:off x="8460000" y="3240000"/>
            <a:ext cx="19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I Arrive! 💚</a:t>
            </a:r>
          </a:p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Familiar faces</a:t>
            </a:r>
          </a:p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Familiar snacks</a:t>
            </a:r>
          </a:p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I did it!</a:t>
            </a:r>
          </a:p>
        </p:txBody>
      </p:sp>
      <p:sp>
        <p:nvSpPr>
          <p:cNvPr id="100041" name="BobBadge"/>
          <p:cNvSpPr txBox="1"/>
          <p:nvPr/>
        </p:nvSpPr>
        <p:spPr>
          <a:xfrm xmlns:a="http://schemas.openxmlformats.org/drawingml/2006/main">
            <a:off x="144000" y="6336000"/>
            <a:ext cx="288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🤖 IBM Bobathon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/>
      <p:sp>
        <p:nvSpPr>
          <p:cNvPr id="100042" name="HeaderBar"/>
          <p:cNvSpPr txBox="1"/>
          <p:nvPr/>
        </p:nvSpPr>
        <p:spPr>
          <a:xfrm xmlns:a="http://schemas.openxmlformats.org/drawingml/2006/main">
            <a:off x="0" y="0"/>
            <a:ext cx="121932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4C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5BA4CF"/>
              </a:solidFill>
            </a:endParaRPr>
          </a:p>
        </p:txBody>
      </p:sp>
      <p:sp>
        <p:nvSpPr>
          <p:cNvPr id="100043" name="BottomBar"/>
          <p:cNvSpPr txBox="1"/>
          <p:nvPr/>
        </p:nvSpPr>
        <p:spPr>
          <a:xfrm xmlns:a="http://schemas.openxmlformats.org/drawingml/2006/main">
            <a:off x="0" y="630000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B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E7CB8"/>
              </a:solidFill>
            </a:endParaRPr>
          </a:p>
        </p:txBody>
      </p:sp>
      <p:sp>
        <p:nvSpPr>
          <p:cNvPr id="100044" name="SlideTitle"/>
          <p:cNvSpPr txBox="1"/>
          <p:nvPr/>
        </p:nvSpPr>
        <p:spPr>
          <a:xfrm xmlns:a="http://schemas.openxmlformats.org/drawingml/2006/main">
            <a:off x="540000" y="72000"/>
            <a:ext cx="1080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Customizable Social Stories</a:t>
            </a:r>
          </a:p>
        </p:txBody>
      </p:sp>
      <p:sp>
        <p:nvSpPr>
          <p:cNvPr id="100045" name="Intro"/>
          <p:cNvSpPr txBox="1"/>
          <p:nvPr/>
        </p:nvSpPr>
        <p:spPr>
          <a:xfrm xmlns:a="http://schemas.openxmlformats.org/drawingml/2006/main">
            <a:off x="720000" y="792000"/>
            <a:ext cx="108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2D3748"/>
                </a:solidFill>
                <a:latin typeface="Calibri"/>
                <a:ea typeface="Calibri"/>
              </a:rPr>
              <a:t>The heart of Calm Skies Travel. A story built around YOUR child — their name, their destination, their feelings.</a:t>
            </a:r>
          </a:p>
        </p:txBody>
      </p:sp>
      <p:sp>
        <p:nvSpPr>
          <p:cNvPr id="100046" name="Story1"/>
          <p:cNvSpPr txBox="1"/>
          <p:nvPr/>
        </p:nvSpPr>
        <p:spPr>
          <a:xfrm xmlns:a="http://schemas.openxmlformats.org/drawingml/2006/main">
            <a:off x="360000" y="1512000"/>
            <a:ext cx="342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DF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📖  Going to Visit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"I am [name]. I am going to visit [grandma / friend]. I will fly on a plane. I will see [person] when I land. I am excited about [detail]."</a:t>
            </a:r>
          </a:p>
        </p:txBody>
      </p:sp>
      <p:sp>
        <p:nvSpPr>
          <p:cNvPr id="100047" name="Story2"/>
          <p:cNvSpPr txBox="1"/>
          <p:nvPr/>
        </p:nvSpPr>
        <p:spPr>
          <a:xfrm xmlns:a="http://schemas.openxmlformats.org/drawingml/2006/main">
            <a:off x="4320000" y="1512000"/>
            <a:ext cx="342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✈️  On the Plane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"I am on the plane. My seat is [seat]. I have my headphones. I have my [comfort item]. If I feel worried, I can [breathe / squeeze my fidget / tell my parent]."</a:t>
            </a:r>
          </a:p>
        </p:txBody>
      </p:sp>
      <p:sp>
        <p:nvSpPr>
          <p:cNvPr id="100048" name="Story3"/>
          <p:cNvSpPr txBox="1"/>
          <p:nvPr/>
        </p:nvSpPr>
        <p:spPr>
          <a:xfrm xmlns:a="http://schemas.openxmlformats.org/drawingml/2006/main">
            <a:off x="8280000" y="1512000"/>
            <a:ext cx="342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DF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🌟  Land &amp; See Family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"The plane has landed. I did it! I will see [person] soon. They are happy I am here. We will [hug / eat / rest]. I am safe."</a:t>
            </a:r>
          </a:p>
        </p:txBody>
      </p:sp>
      <p:sp>
        <p:nvSpPr>
          <p:cNvPr id="100049" name="HowItWorks"/>
          <p:cNvSpPr txBox="1"/>
          <p:nvPr/>
        </p:nvSpPr>
        <p:spPr>
          <a:xfrm xmlns:a="http://schemas.openxmlformats.org/drawingml/2006/main">
            <a:off x="360000" y="4320000"/>
            <a:ext cx="1152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How the Story Builder works: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   Enter child's name, destination, who they'll see and what helps them feel calm.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   The site generates a warm, first-person story — ready to read together, print or laminate.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   Every sentence can be edited by the parent.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   Stories travel in a QR code — no account, no login, no data on any server.</a:t>
            </a:r>
          </a:p>
        </p:txBody>
      </p:sp>
      <p:sp>
        <p:nvSpPr>
          <p:cNvPr id="100050" name="BobBadge"/>
          <p:cNvSpPr txBox="1"/>
          <p:nvPr/>
        </p:nvSpPr>
        <p:spPr>
          <a:xfrm xmlns:a="http://schemas.openxmlformats.org/drawingml/2006/main">
            <a:off x="144000" y="6336000"/>
            <a:ext cx="288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🤖 IBM Bobathon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/>
      <p:sp>
        <p:nvSpPr>
          <p:cNvPr id="100051" name="HeaderBar"/>
          <p:cNvSpPr txBox="1"/>
          <p:nvPr/>
        </p:nvSpPr>
        <p:spPr>
          <a:xfrm xmlns:a="http://schemas.openxmlformats.org/drawingml/2006/main">
            <a:off x="0" y="0"/>
            <a:ext cx="121932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4C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5BA4CF"/>
              </a:solidFill>
            </a:endParaRPr>
          </a:p>
        </p:txBody>
      </p:sp>
      <p:sp>
        <p:nvSpPr>
          <p:cNvPr id="100052" name="BottomBar"/>
          <p:cNvSpPr txBox="1"/>
          <p:nvPr/>
        </p:nvSpPr>
        <p:spPr>
          <a:xfrm xmlns:a="http://schemas.openxmlformats.org/drawingml/2006/main">
            <a:off x="0" y="630000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B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E7CB8"/>
              </a:solidFill>
            </a:endParaRPr>
          </a:p>
        </p:txBody>
      </p:sp>
      <p:sp>
        <p:nvSpPr>
          <p:cNvPr id="100053" name="SlideTitle"/>
          <p:cNvSpPr txBox="1"/>
          <p:nvPr/>
        </p:nvSpPr>
        <p:spPr>
          <a:xfrm xmlns:a="http://schemas.openxmlformats.org/drawingml/2006/main">
            <a:off x="540000" y="72000"/>
            <a:ext cx="1080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Helpful Hints — Easy to Miss, Life Changing</a:t>
            </a:r>
          </a:p>
        </p:txBody>
      </p:sp>
      <p:sp>
        <p:nvSpPr>
          <p:cNvPr id="100054" name="Note"/>
          <p:cNvSpPr txBox="1"/>
          <p:nvPr/>
        </p:nvSpPr>
        <p:spPr>
          <a:xfrm xmlns:a="http://schemas.openxmlformats.org/drawingml/2006/main">
            <a:off x="720000" y="792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4A261"/>
                </a:solidFill>
                <a:latin typeface="Calibri"/>
                <a:ea typeface="Calibri"/>
              </a:rPr>
              <a:t>Most of these must be set up BEFORE the flight.</a:t>
            </a:r>
          </a:p>
        </p:txBody>
      </p:sp>
      <p:sp>
        <p:nvSpPr>
          <p:cNvPr id="100055" name="Hint1"/>
          <p:cNvSpPr txBox="1"/>
          <p:nvPr/>
        </p:nvSpPr>
        <p:spPr>
          <a:xfrm xmlns:a="http://schemas.openxmlformats.org/drawingml/2006/main">
            <a:off x="360000" y="1260000"/>
            <a:ext cx="3420000" cy="30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🌻  Sunflower Lanyard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The Hidden Disabilities Sunflower quietly tells airport and airline staff: this traveler may need extra time, patience or help.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Available at most major airports.</a:t>
            </a:r>
          </a:p>
        </p:txBody>
      </p:sp>
      <p:sp>
        <p:nvSpPr>
          <p:cNvPr id="100056" name="Hint2"/>
          <p:cNvSpPr txBox="1"/>
          <p:nvPr/>
        </p:nvSpPr>
        <p:spPr>
          <a:xfrm xmlns:a="http://schemas.openxmlformats.org/drawingml/2006/main">
            <a:off x="4320000" y="1260000"/>
            <a:ext cx="3420000" cy="30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📋  DPNA Code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Ask the airline to add the Disabled Passenger — No Advance Warning code to your booking.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This ensures staff are briefed and pre-boarding may be offered.</a:t>
            </a:r>
          </a:p>
        </p:txBody>
      </p:sp>
      <p:sp>
        <p:nvSpPr>
          <p:cNvPr id="100057" name="Hint3"/>
          <p:cNvSpPr txBox="1"/>
          <p:nvPr/>
        </p:nvSpPr>
        <p:spPr>
          <a:xfrm xmlns:a="http://schemas.openxmlformats.org/drawingml/2006/main">
            <a:off x="8280000" y="1260000"/>
            <a:ext cx="3420000" cy="30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DF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📞  TSA Cares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Call TSA Cares 72 hours before your flight.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A TSA officer can meet you at the checkpoint to guide your family through security — calmly and kindly.</a:t>
            </a:r>
          </a:p>
        </p:txBody>
      </p:sp>
      <p:sp>
        <p:nvSpPr>
          <p:cNvPr id="100058" name="Hint4"/>
          <p:cNvSpPr txBox="1"/>
          <p:nvPr/>
        </p:nvSpPr>
        <p:spPr>
          <a:xfrm xmlns:a="http://schemas.openxmlformats.org/drawingml/2006/main">
            <a:off x="360000" y="4608000"/>
            <a:ext cx="115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⭐  More Hidden Help: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✓  Wings for Autism — airport rehearsal days for families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✓  Airport Sensory Rooms — quiet, calm spaces airside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✓  TSA PreCheck — shorter, calmer security lanes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✓  Pre-boarding — ask the gate agent early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✓  Autism Assistance Cards — wallet card for staff</a:t>
            </a:r>
          </a:p>
        </p:txBody>
      </p:sp>
      <p:sp>
        <p:nvSpPr>
          <p:cNvPr id="100059" name="BobBadge"/>
          <p:cNvSpPr txBox="1"/>
          <p:nvPr/>
        </p:nvSpPr>
        <p:spPr>
          <a:xfrm xmlns:a="http://schemas.openxmlformats.org/drawingml/2006/main">
            <a:off x="144000" y="6336000"/>
            <a:ext cx="288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🤖 IBM Bobathon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/>
      <p:sp>
        <p:nvSpPr>
          <p:cNvPr id="100060" name="HeaderBar"/>
          <p:cNvSpPr txBox="1"/>
          <p:nvPr/>
        </p:nvSpPr>
        <p:spPr>
          <a:xfrm xmlns:a="http://schemas.openxmlformats.org/drawingml/2006/main">
            <a:off x="0" y="0"/>
            <a:ext cx="121932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4C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5BA4CF"/>
              </a:solidFill>
            </a:endParaRPr>
          </a:p>
        </p:txBody>
      </p:sp>
      <p:sp>
        <p:nvSpPr>
          <p:cNvPr id="100061" name="BottomBar"/>
          <p:cNvSpPr txBox="1"/>
          <p:nvPr/>
        </p:nvSpPr>
        <p:spPr>
          <a:xfrm xmlns:a="http://schemas.openxmlformats.org/drawingml/2006/main">
            <a:off x="0" y="630000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B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E7CB8"/>
              </a:solidFill>
            </a:endParaRPr>
          </a:p>
        </p:txBody>
      </p:sp>
      <p:sp>
        <p:nvSpPr>
          <p:cNvPr id="100062" name="SlideTitle"/>
          <p:cNvSpPr txBox="1"/>
          <p:nvPr/>
        </p:nvSpPr>
        <p:spPr>
          <a:xfrm xmlns:a="http://schemas.openxmlformats.org/drawingml/2006/main">
            <a:off x="540000" y="72000"/>
            <a:ext cx="1080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Pack the Calm. Ship the Rest.</a:t>
            </a:r>
          </a:p>
        </p:txBody>
      </p:sp>
      <p:sp>
        <p:nvSpPr>
          <p:cNvPr id="100063" name="GoBagHeader"/>
          <p:cNvSpPr txBox="1"/>
          <p:nvPr/>
        </p:nvSpPr>
        <p:spPr>
          <a:xfrm xmlns:a="http://schemas.openxmlformats.org/drawingml/2006/main">
            <a:off x="360000" y="828000"/>
            <a:ext cx="54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2E7CB8"/>
                </a:solidFill>
                <a:latin typeface="Calibri"/>
                <a:ea typeface="Calibri"/>
              </a:rPr>
              <a:t>🎒  The Go Bag — Carry This With You</a:t>
            </a:r>
          </a:p>
        </p:txBody>
      </p:sp>
      <p:sp>
        <p:nvSpPr>
          <p:cNvPr id="100064" name="GoBagList"/>
          <p:cNvSpPr txBox="1"/>
          <p:nvPr/>
        </p:nvSpPr>
        <p:spPr>
          <a:xfrm xmlns:a="http://schemas.openxmlformats.org/drawingml/2006/main">
            <a:off x="360000" y="1260000"/>
            <a:ext cx="5400000" cy="3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DF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✓  Noise-canceling headphones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✓  Preloaded music or audiobook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✓  Fidget toys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✓  Chewelry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✓  Favorite snacks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✓  Comfort item (small blanket / stuffed animal)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✓  Printed social story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✓  Autism assistance card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✓  Reusable water bottle</a:t>
            </a:r>
          </a:p>
        </p:txBody>
      </p:sp>
      <p:sp>
        <p:nvSpPr>
          <p:cNvPr id="100065" name="ShipHeader"/>
          <p:cNvSpPr txBox="1"/>
          <p:nvPr/>
        </p:nvSpPr>
        <p:spPr>
          <a:xfrm xmlns:a="http://schemas.openxmlformats.org/drawingml/2006/main">
            <a:off x="6300000" y="828000"/>
            <a:ext cx="54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2E7CB8"/>
                </a:solidFill>
                <a:latin typeface="Calibri"/>
                <a:ea typeface="Calibri"/>
              </a:rPr>
              <a:t>📦  Ship Ahead — Let the Familiar Arrive First</a:t>
            </a:r>
          </a:p>
        </p:txBody>
      </p:sp>
      <p:sp>
        <p:nvSpPr>
          <p:cNvPr id="100066" name="ShipList"/>
          <p:cNvSpPr txBox="1"/>
          <p:nvPr/>
        </p:nvSpPr>
        <p:spPr>
          <a:xfrm xmlns:a="http://schemas.openxmlformats.org/drawingml/2006/main">
            <a:off x="6300000" y="1260000"/>
            <a:ext cx="5400000" cy="3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Consider shipping to the hotel or relative's home before you travel: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✓  Favorite foods and snacks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✓  Familiar bath products (same shampoo smell = calm)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✓  Preferred pillow or blanket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✓  Extra comfort items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✓  Activity supplies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💡  When familiar things are already there, the new place feels like home faster.</a:t>
            </a:r>
          </a:p>
        </p:txBody>
      </p:sp>
      <p:sp>
        <p:nvSpPr>
          <p:cNvPr id="100067" name="Tip"/>
          <p:cNvSpPr txBox="1"/>
          <p:nvPr/>
        </p:nvSpPr>
        <p:spPr>
          <a:xfrm xmlns:a="http://schemas.openxmlformats.org/drawingml/2006/main">
            <a:off x="360000" y="5148000"/>
            <a:ext cx="1152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💡  Tip: Amazon ships to hotels. Ship 2 days before you fly. Familiar things waiting = a calmer arrival.</a:t>
            </a:r>
          </a:p>
        </p:txBody>
      </p:sp>
      <p:sp>
        <p:nvSpPr>
          <p:cNvPr id="100068" name="BobBadge"/>
          <p:cNvSpPr txBox="1"/>
          <p:nvPr/>
        </p:nvSpPr>
        <p:spPr>
          <a:xfrm xmlns:a="http://schemas.openxmlformats.org/drawingml/2006/main">
            <a:off x="144000" y="6336000"/>
            <a:ext cx="288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🤖 IBM Bobathon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/>
      <p:sp>
        <p:nvSpPr>
          <p:cNvPr id="100069" name="HeaderBar"/>
          <p:cNvSpPr txBox="1"/>
          <p:nvPr/>
        </p:nvSpPr>
        <p:spPr>
          <a:xfrm xmlns:a="http://schemas.openxmlformats.org/drawingml/2006/main">
            <a:off x="0" y="0"/>
            <a:ext cx="121932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4C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5BA4CF"/>
              </a:solidFill>
            </a:endParaRPr>
          </a:p>
        </p:txBody>
      </p:sp>
      <p:sp>
        <p:nvSpPr>
          <p:cNvPr id="100070" name="BottomBar"/>
          <p:cNvSpPr txBox="1"/>
          <p:nvPr/>
        </p:nvSpPr>
        <p:spPr>
          <a:xfrm xmlns:a="http://schemas.openxmlformats.org/drawingml/2006/main">
            <a:off x="0" y="630000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B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E7CB8"/>
              </a:solidFill>
            </a:endParaRPr>
          </a:p>
        </p:txBody>
      </p:sp>
      <p:sp>
        <p:nvSpPr>
          <p:cNvPr id="100071" name="SlideTitle"/>
          <p:cNvSpPr txBox="1"/>
          <p:nvPr/>
        </p:nvSpPr>
        <p:spPr>
          <a:xfrm xmlns:a="http://schemas.openxmlformats.org/drawingml/2006/main">
            <a:off x="540000" y="72000"/>
            <a:ext cx="1080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Staying Calm — Before, During and After</a:t>
            </a:r>
          </a:p>
        </p:txBody>
      </p:sp>
      <p:sp>
        <p:nvSpPr>
          <p:cNvPr id="100072" name="Intro"/>
          <p:cNvSpPr txBox="1"/>
          <p:nvPr/>
        </p:nvSpPr>
        <p:spPr>
          <a:xfrm xmlns:a="http://schemas.openxmlformats.org/drawingml/2006/main">
            <a:off x="720000" y="792000"/>
            <a:ext cx="108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718096"/>
                </a:solidFill>
                <a:latin typeface="Calibri"/>
                <a:ea typeface="Calibri"/>
              </a:rPr>
              <a:t>Travel breaks routines. These strategies help protect the calm — for child and parent alike.</a:t>
            </a:r>
          </a:p>
        </p:txBody>
      </p:sp>
      <p:sp>
        <p:nvSpPr>
          <p:cNvPr id="100073" name="Before"/>
          <p:cNvSpPr txBox="1"/>
          <p:nvPr/>
        </p:nvSpPr>
        <p:spPr>
          <a:xfrm xmlns:a="http://schemas.openxmlformats.org/drawingml/2006/main">
            <a:off x="360000" y="1260000"/>
            <a:ext cx="342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DF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🌅  BEFORE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Read the social story together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Make the schedule visible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Spot the triggers early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Pack the go bag the night before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Set up TSA Cares, DPNA, Sunflower Lanyard in advance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Build in extra time — always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Plan for delays with a 'what if' card</a:t>
            </a:r>
          </a:p>
        </p:txBody>
      </p:sp>
      <p:sp>
        <p:nvSpPr>
          <p:cNvPr id="100074" name="During"/>
          <p:cNvSpPr txBox="1"/>
          <p:nvPr/>
        </p:nvSpPr>
        <p:spPr>
          <a:xfrm xmlns:a="http://schemas.openxmlformats.org/drawingml/2006/main">
            <a:off x="4320000" y="1260000"/>
            <a:ext cx="342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✈️  DURING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Headphones on early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Fidgets in hand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Keep the child safe first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Reduce noise and light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Use fewer words — calm voice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Find the quiet spot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Deep breaths together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'We are safe. We are almost there.'</a:t>
            </a:r>
          </a:p>
        </p:txBody>
      </p:sp>
      <p:sp>
        <p:nvSpPr>
          <p:cNvPr id="100075" name="After"/>
          <p:cNvSpPr txBox="1"/>
          <p:nvPr/>
        </p:nvSpPr>
        <p:spPr>
          <a:xfrm xmlns:a="http://schemas.openxmlformats.org/drawingml/2006/main">
            <a:off x="8280000" y="1260000"/>
            <a:ext cx="342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DF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🌿  AFTER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Comfort item immediately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Water (reusable bottle)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No blame. No shame. Ever.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Rest first — celebrate later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Note the trigger for next time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Record what worked in the Trip Review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Next trip starts smarter than this one</a:t>
            </a:r>
          </a:p>
        </p:txBody>
      </p:sp>
      <p:sp>
        <p:nvSpPr>
          <p:cNvPr id="100076" name="BobBadge"/>
          <p:cNvSpPr txBox="1"/>
          <p:nvPr/>
        </p:nvSpPr>
        <p:spPr>
          <a:xfrm xmlns:a="http://schemas.openxmlformats.org/drawingml/2006/main">
            <a:off x="144000" y="6336000"/>
            <a:ext cx="288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🤖 IBM Bobathon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/>
      <p:sp>
        <p:nvSpPr>
          <p:cNvPr id="100077" name="SkyBar"/>
          <p:cNvSpPr txBox="1"/>
          <p:nvPr/>
        </p:nvSpPr>
        <p:spPr>
          <a:xfrm xmlns:a="http://schemas.openxmlformats.org/drawingml/2006/main">
            <a:off x="0" y="0"/>
            <a:ext cx="121932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4C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5BA4CF"/>
              </a:solidFill>
            </a:endParaRPr>
          </a:p>
        </p:txBody>
      </p:sp>
      <p:sp>
        <p:nvSpPr>
          <p:cNvPr id="100078" name="BottomBar"/>
          <p:cNvSpPr txBox="1"/>
          <p:nvPr/>
        </p:nvSpPr>
        <p:spPr>
          <a:xfrm xmlns:a="http://schemas.openxmlformats.org/drawingml/2006/main">
            <a:off x="0" y="630000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B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E7CB8"/>
              </a:solidFill>
            </a:endParaRPr>
          </a:p>
        </p:txBody>
      </p:sp>
      <p:sp>
        <p:nvSpPr>
          <p:cNvPr id="100079" name="ThankYou"/>
          <p:cNvSpPr txBox="1"/>
          <p:nvPr/>
        </p:nvSpPr>
        <p:spPr>
          <a:xfrm xmlns:a="http://schemas.openxmlformats.org/drawingml/2006/main">
            <a:off x="540000" y="180000"/>
            <a:ext cx="108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FFFFFF"/>
                </a:solidFill>
                <a:latin typeface="Calibri"/>
                <a:ea typeface="Calibri"/>
              </a:rPr>
              <a:t>Thank You</a:t>
            </a:r>
          </a:p>
        </p:txBody>
      </p:sp>
      <p:sp>
        <p:nvSpPr>
          <p:cNvPr id="100080" name="Heart"/>
          <p:cNvSpPr txBox="1"/>
          <p:nvPr/>
        </p:nvSpPr>
        <p:spPr>
          <a:xfrm xmlns:a="http://schemas.openxmlformats.org/drawingml/2006/main">
            <a:off x="4320000" y="1620000"/>
            <a:ext cx="3600000" cy="3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0" b="0">
                <a:solidFill>
                  <a:srgbClr val="F28B82"/>
                </a:solidFill>
                <a:latin typeface="Segoe UI Emoji"/>
                <a:ea typeface="Segoe UI Emoji"/>
              </a:rPr>
              <a:t>❤</a:t>
            </a:r>
          </a:p>
        </p:txBody>
      </p:sp>
      <p:sp>
        <p:nvSpPr>
          <p:cNvPr id="100081" name="Cloud1"/>
          <p:cNvSpPr txBox="1"/>
          <p:nvPr/>
        </p:nvSpPr>
        <p:spPr>
          <a:xfrm xmlns:a="http://schemas.openxmlformats.org/drawingml/2006/main">
            <a:off x="360000" y="1800000"/>
            <a:ext cx="180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0">
                <a:solidFill>
                  <a:srgbClr val="A8D4EF"/>
                </a:solidFill>
                <a:latin typeface="Segoe UI Emoji"/>
                <a:ea typeface="Segoe UI Emoji"/>
              </a:rPr>
              <a:t>☁</a:t>
            </a:r>
          </a:p>
        </p:txBody>
      </p:sp>
      <p:sp>
        <p:nvSpPr>
          <p:cNvPr id="100082" name="Cloud2"/>
          <p:cNvSpPr txBox="1"/>
          <p:nvPr/>
        </p:nvSpPr>
        <p:spPr>
          <a:xfrm xmlns:a="http://schemas.openxmlformats.org/drawingml/2006/main">
            <a:off x="9720000" y="1980000"/>
            <a:ext cx="180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0">
                <a:solidFill>
                  <a:srgbClr val="A8D4EF"/>
                </a:solidFill>
                <a:latin typeface="Segoe UI Emoji"/>
                <a:ea typeface="Segoe UI Emoji"/>
              </a:rPr>
              <a:t>☁</a:t>
            </a:r>
          </a:p>
        </p:txBody>
      </p:sp>
      <p:sp>
        <p:nvSpPr>
          <p:cNvPr id="100083" name="Tagline"/>
          <p:cNvSpPr txBox="1"/>
          <p:nvPr/>
        </p:nvSpPr>
        <p:spPr>
          <a:xfrm xmlns:a="http://schemas.openxmlformats.org/drawingml/2006/main">
            <a:off x="1080000" y="5040000"/>
            <a:ext cx="1008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2E7CB8"/>
                </a:solidFill>
                <a:latin typeface="Calibri"/>
                <a:ea typeface="Calibri"/>
              </a:rPr>
              <a:t>Safe Travels, Calm Skies.</a:t>
            </a:r>
          </a:p>
        </p:txBody>
      </p:sp>
      <p:sp>
        <p:nvSpPr>
          <p:cNvPr id="100084" name="URL"/>
          <p:cNvSpPr txBox="1"/>
          <p:nvPr/>
        </p:nvSpPr>
        <p:spPr>
          <a:xfrm xmlns:a="http://schemas.openxmlformats.org/drawingml/2006/main">
            <a:off x="3600000" y="5688000"/>
            <a:ext cx="50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5BA4CF"/>
                </a:solidFill>
                <a:latin typeface="Calibri"/>
                <a:ea typeface="Calibri"/>
              </a:rPr>
              <a:t>calmskiestravel.com</a:t>
            </a:r>
          </a:p>
        </p:txBody>
      </p:sp>
      <p:sp>
        <p:nvSpPr>
          <p:cNvPr id="100085" name="BobBadge"/>
          <p:cNvSpPr txBox="1"/>
          <p:nvPr/>
        </p:nvSpPr>
        <p:spPr>
          <a:xfrm xmlns:a="http://schemas.openxmlformats.org/drawingml/2006/main">
            <a:off x="144000" y="6336000"/>
            <a:ext cx="288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🤖 IBM Bobathon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2026-09-27T23:20:15Z</dcterms:created>
  <cp:lastModifiedBy>OfficeCLI</cp:lastModifiedBy>
  <dcterms:modified xsi:type="dcterms:W3CDTF">2026-09-27T23:20:15Z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2026-09-28T02:45:51Z</vt:lpwstr>
  </op:property>
</op:Properties>
</file>